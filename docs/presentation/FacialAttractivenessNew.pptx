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1"/>
  </p:sldMasterIdLst>
  <p:notesMasterIdLst>
    <p:notesMasterId r:id="rId20"/>
  </p:notesMasterIdLst>
  <p:sldIdLst>
    <p:sldId id="256" r:id="rId2"/>
    <p:sldId id="275" r:id="rId3"/>
    <p:sldId id="262" r:id="rId4"/>
    <p:sldId id="263" r:id="rId5"/>
    <p:sldId id="261" r:id="rId6"/>
    <p:sldId id="276" r:id="rId7"/>
    <p:sldId id="264" r:id="rId8"/>
    <p:sldId id="266" r:id="rId9"/>
    <p:sldId id="267" r:id="rId10"/>
    <p:sldId id="268" r:id="rId11"/>
    <p:sldId id="265" r:id="rId12"/>
    <p:sldId id="270" r:id="rId13"/>
    <p:sldId id="269" r:id="rId14"/>
    <p:sldId id="273" r:id="rId15"/>
    <p:sldId id="277" r:id="rId16"/>
    <p:sldId id="278" r:id="rId17"/>
    <p:sldId id="271" r:id="rId18"/>
    <p:sldId id="274" r:id="rId19"/>
  </p:sldIdLst>
  <p:sldSz cx="12192000" cy="6858000"/>
  <p:notesSz cx="6858000" cy="9144000"/>
  <p:defaultTextStyle>
    <a:defPPr>
      <a:defRPr lang="de-DE"/>
    </a:defPPr>
    <a:lvl1pPr marL="0" algn="l" defTabSz="91430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2" algn="l" defTabSz="91430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05" algn="l" defTabSz="91430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57" algn="l" defTabSz="91430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10" algn="l" defTabSz="91430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61" algn="l" defTabSz="91430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14" algn="l" defTabSz="91430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66" algn="l" defTabSz="91430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19" algn="l" defTabSz="91430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D06FFC-886A-4A7C-9F0B-9E8F7F0D6DD6}" v="709" dt="2026-05-16T20:52:46.120"/>
    <p1510:client id="{F9E7D2CC-AAE3-0E12-66A5-E33A6C1F3580}" v="549" dt="2026-05-16T21:32:50.6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0116"/>
  </p:normalViewPr>
  <p:slideViewPr>
    <p:cSldViewPr snapToGrid="0">
      <p:cViewPr varScale="1">
        <p:scale>
          <a:sx n="100" d="100"/>
          <a:sy n="100" d="100"/>
        </p:scale>
        <p:origin x="184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CA154-9D67-664C-B4D5-C87EF9B24B2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93B02-ADEB-4B4C-8C92-DBC13D404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396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r>
              <a:rPr lang="en-US" dirty="0"/>
              <a:t> + </a:t>
            </a:r>
            <a:r>
              <a:rPr lang="en-US" dirty="0" err="1"/>
              <a:t>RandomForrest</a:t>
            </a:r>
            <a:r>
              <a:rPr lang="en-US" dirty="0"/>
              <a:t> + Gradient Boosting Machine + Ridge → Ridge meta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93B02-ADEB-4B4C-8C92-DBC13D404A5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216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93B02-ADEB-4B4C-8C92-DBC13D404A5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014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93B02-ADEB-4B4C-8C92-DBC13D404A5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596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50DDF-97FB-6A56-88C3-4E4595094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4A1832-85DD-CC3E-7A7A-4E88790C5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81E24-2A3B-829B-8025-0340D9B82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BAB47-7F5A-3B50-E7D7-2DE6367BB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93B02-ADEB-4B4C-8C92-DBC13D404A5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95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D6369-8515-C000-B75E-12BAB22F9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5604BC-5348-6D30-3B11-DDDB95BCF0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7AF7F1-CDC3-048E-EDE4-26CA5C511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67FFD-7E7F-6FB3-2A4C-F8FB279332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93B02-ADEB-4B4C-8C92-DBC13D404A5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4431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18F10-EFB2-69EA-9CA5-B76A30F16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EF1DC-F15C-7190-8FB9-55D672D61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FF9840-77DE-EFB9-53CD-7411EB7D0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A8A2D-98C9-4C42-7200-2091EDBBF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93B02-ADEB-4B4C-8C92-DBC13D404A5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003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93B02-ADEB-4B4C-8C92-DBC13D404A5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807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 mit Bild (Schlos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378442" y="611858"/>
            <a:ext cx="7305600" cy="46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8442" y="1079750"/>
            <a:ext cx="7305600" cy="396000"/>
          </a:xfrm>
        </p:spPr>
        <p:txBody>
          <a:bodyPr/>
          <a:lstStyle>
            <a:lvl1pPr marL="0" indent="0" algn="l">
              <a:buNone/>
              <a:defRPr sz="2399">
                <a:solidFill>
                  <a:srgbClr val="003056"/>
                </a:solidFill>
              </a:defRPr>
            </a:lvl1pPr>
            <a:lvl2pPr marL="4570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0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1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9DB65-9933-5949-A30C-BACC5667C6E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9E1B7-998E-E74D-BECC-AB7ACE50320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fik 6" descr="Ein Bild, das Himmel, Gebäude, draußen, Wolke enthält.&#10;&#10;KI-generierte Inhalte können fehlerhaft sein.">
            <a:extLst>
              <a:ext uri="{FF2B5EF4-FFF2-40B4-BE49-F238E27FC236}">
                <a16:creationId xmlns:a16="http://schemas.microsoft.com/office/drawing/2014/main" id="{2254EC4D-4426-1E60-FD55-5D54F0C79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84927"/>
            <a:ext cx="12192000" cy="369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004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in beliebig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9DB65-9933-5949-A30C-BACC5667C6E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9E1B7-998E-E74D-BECC-AB7ACE503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328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 mit Bild (individue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378442" y="611858"/>
            <a:ext cx="7305600" cy="46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8442" y="1079750"/>
            <a:ext cx="7305600" cy="396000"/>
          </a:xfrm>
        </p:spPr>
        <p:txBody>
          <a:bodyPr/>
          <a:lstStyle>
            <a:lvl1pPr marL="0" indent="0" algn="l">
              <a:buNone/>
              <a:defRPr sz="2399">
                <a:solidFill>
                  <a:srgbClr val="003056"/>
                </a:solidFill>
              </a:defRPr>
            </a:lvl1pPr>
            <a:lvl2pPr marL="4570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0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1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9DB65-9933-5949-A30C-BACC5667C6E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9E1B7-998E-E74D-BECC-AB7ACE50320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Bildplatzhalter 2"/>
          <p:cNvSpPr>
            <a:spLocks noGrp="1"/>
          </p:cNvSpPr>
          <p:nvPr>
            <p:ph type="pic" idx="13"/>
          </p:nvPr>
        </p:nvSpPr>
        <p:spPr>
          <a:xfrm>
            <a:off x="1378441" y="2177496"/>
            <a:ext cx="9429544" cy="3689146"/>
          </a:xfrm>
        </p:spPr>
        <p:txBody>
          <a:bodyPr/>
          <a:lstStyle>
            <a:lvl1pPr marL="0" indent="0">
              <a:buNone/>
              <a:defRPr sz="3199"/>
            </a:lvl1pPr>
            <a:lvl2pPr marL="457015" indent="0">
              <a:buNone/>
              <a:defRPr sz="2799"/>
            </a:lvl2pPr>
            <a:lvl3pPr marL="914031" indent="0">
              <a:buNone/>
              <a:defRPr sz="2399"/>
            </a:lvl3pPr>
            <a:lvl4pPr marL="1371046" indent="0">
              <a:buNone/>
              <a:defRPr sz="1999"/>
            </a:lvl4pPr>
            <a:lvl5pPr marL="1828061" indent="0">
              <a:buNone/>
              <a:defRPr sz="1999"/>
            </a:lvl5pPr>
            <a:lvl6pPr marL="2285075" indent="0">
              <a:buNone/>
              <a:defRPr sz="1999"/>
            </a:lvl6pPr>
            <a:lvl7pPr marL="2742091" indent="0">
              <a:buNone/>
              <a:defRPr sz="1999"/>
            </a:lvl7pPr>
            <a:lvl8pPr marL="3199106" indent="0">
              <a:buNone/>
              <a:defRPr sz="1999"/>
            </a:lvl8pPr>
            <a:lvl9pPr marL="3656122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13298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 ohne Bild/Abschnitts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913350" y="2712585"/>
            <a:ext cx="10365301" cy="468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de-DE" dirty="0"/>
              <a:t>Titelmasterformat durch Klicken bearbeiten</a:t>
            </a:r>
            <a:br>
              <a:rPr lang="de-DE" dirty="0"/>
            </a:b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31111" y="3569060"/>
            <a:ext cx="8529779" cy="396000"/>
          </a:xfrm>
        </p:spPr>
        <p:txBody>
          <a:bodyPr/>
          <a:lstStyle>
            <a:lvl1pPr marL="0" indent="0" algn="ctr">
              <a:buNone/>
              <a:defRPr>
                <a:solidFill>
                  <a:srgbClr val="003056"/>
                </a:solidFill>
              </a:defRPr>
            </a:lvl1pPr>
            <a:lvl2pPr marL="4570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0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1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9DB65-9933-5949-A30C-BACC5667C6E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9E1B7-998E-E74D-BECC-AB7ACE503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67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Zwei Beliebige Inhalte (1:1) mit Überschrift (1: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378441" y="2177497"/>
            <a:ext cx="4480833" cy="359716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15" indent="0">
              <a:buNone/>
              <a:defRPr sz="1999" b="1"/>
            </a:lvl2pPr>
            <a:lvl3pPr marL="914031" indent="0">
              <a:buNone/>
              <a:defRPr sz="1799" b="1"/>
            </a:lvl3pPr>
            <a:lvl4pPr marL="1371046" indent="0">
              <a:buNone/>
              <a:defRPr sz="1600" b="1"/>
            </a:lvl4pPr>
            <a:lvl5pPr marL="1828061" indent="0">
              <a:buNone/>
              <a:defRPr sz="1600" b="1"/>
            </a:lvl5pPr>
            <a:lvl6pPr marL="2285075" indent="0">
              <a:buNone/>
              <a:defRPr sz="1600" b="1"/>
            </a:lvl6pPr>
            <a:lvl7pPr marL="2742091" indent="0">
              <a:buNone/>
              <a:defRPr sz="1600" b="1"/>
            </a:lvl7pPr>
            <a:lvl8pPr marL="3199106" indent="0">
              <a:buNone/>
              <a:defRPr sz="1600" b="1"/>
            </a:lvl8pPr>
            <a:lvl9pPr marL="365612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1378441" y="2547477"/>
            <a:ext cx="4480833" cy="3311233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330751" y="2177497"/>
            <a:ext cx="4480833" cy="359716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15" indent="0">
              <a:buNone/>
              <a:defRPr sz="1999" b="1"/>
            </a:lvl2pPr>
            <a:lvl3pPr marL="914031" indent="0">
              <a:buNone/>
              <a:defRPr sz="1799" b="1"/>
            </a:lvl3pPr>
            <a:lvl4pPr marL="1371046" indent="0">
              <a:buNone/>
              <a:defRPr sz="1600" b="1"/>
            </a:lvl4pPr>
            <a:lvl5pPr marL="1828061" indent="0">
              <a:buNone/>
              <a:defRPr sz="1600" b="1"/>
            </a:lvl5pPr>
            <a:lvl6pPr marL="2285075" indent="0">
              <a:buNone/>
              <a:defRPr sz="1600" b="1"/>
            </a:lvl6pPr>
            <a:lvl7pPr marL="2742091" indent="0">
              <a:buNone/>
              <a:defRPr sz="1600" b="1"/>
            </a:lvl7pPr>
            <a:lvl8pPr marL="3199106" indent="0">
              <a:buNone/>
              <a:defRPr sz="1600" b="1"/>
            </a:lvl8pPr>
            <a:lvl9pPr marL="365612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330751" y="2546688"/>
            <a:ext cx="4480833" cy="3311233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9DB65-9933-5949-A30C-BACC5667C6E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9E1B7-998E-E74D-BECC-AB7ACE503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52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und Bild (1: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378441" y="2177496"/>
            <a:ext cx="4480833" cy="3689146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9DB65-9933-5949-A30C-BACC5667C6E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9E1B7-998E-E74D-BECC-AB7ACE50320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ildplatzhalter 2"/>
          <p:cNvSpPr>
            <a:spLocks noGrp="1"/>
          </p:cNvSpPr>
          <p:nvPr>
            <p:ph type="pic" idx="13"/>
          </p:nvPr>
        </p:nvSpPr>
        <p:spPr>
          <a:xfrm>
            <a:off x="6330751" y="2177496"/>
            <a:ext cx="4480833" cy="3689146"/>
          </a:xfrm>
        </p:spPr>
        <p:txBody>
          <a:bodyPr/>
          <a:lstStyle>
            <a:lvl1pPr marL="0" indent="0">
              <a:buNone/>
              <a:defRPr sz="3199"/>
            </a:lvl1pPr>
            <a:lvl2pPr marL="457015" indent="0">
              <a:buNone/>
              <a:defRPr sz="2799"/>
            </a:lvl2pPr>
            <a:lvl3pPr marL="914031" indent="0">
              <a:buNone/>
              <a:defRPr sz="2399"/>
            </a:lvl3pPr>
            <a:lvl4pPr marL="1371046" indent="0">
              <a:buNone/>
              <a:defRPr sz="1999"/>
            </a:lvl4pPr>
            <a:lvl5pPr marL="1828061" indent="0">
              <a:buNone/>
              <a:defRPr sz="1999"/>
            </a:lvl5pPr>
            <a:lvl6pPr marL="2285075" indent="0">
              <a:buNone/>
              <a:defRPr sz="1999"/>
            </a:lvl6pPr>
            <a:lvl7pPr marL="2742091" indent="0">
              <a:buNone/>
              <a:defRPr sz="1999"/>
            </a:lvl7pPr>
            <a:lvl8pPr marL="3199106" indent="0">
              <a:buNone/>
              <a:defRPr sz="1999"/>
            </a:lvl8pPr>
            <a:lvl9pPr marL="3656122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88736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und Bild (asymmetrisch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378441" y="2177496"/>
            <a:ext cx="6226379" cy="3689146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9DB65-9933-5949-A30C-BACC5667C6E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9E1B7-998E-E74D-BECC-AB7ACE50320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ildplatzhalter 2"/>
          <p:cNvSpPr>
            <a:spLocks noGrp="1"/>
          </p:cNvSpPr>
          <p:nvPr>
            <p:ph type="pic" idx="13"/>
          </p:nvPr>
        </p:nvSpPr>
        <p:spPr>
          <a:xfrm>
            <a:off x="8080121" y="2177496"/>
            <a:ext cx="2735288" cy="3689146"/>
          </a:xfrm>
        </p:spPr>
        <p:txBody>
          <a:bodyPr/>
          <a:lstStyle>
            <a:lvl1pPr marL="0" indent="0">
              <a:buNone/>
              <a:defRPr sz="3199"/>
            </a:lvl1pPr>
            <a:lvl2pPr marL="457015" indent="0">
              <a:buNone/>
              <a:defRPr sz="2799"/>
            </a:lvl2pPr>
            <a:lvl3pPr marL="914031" indent="0">
              <a:buNone/>
              <a:defRPr sz="2399"/>
            </a:lvl3pPr>
            <a:lvl4pPr marL="1371046" indent="0">
              <a:buNone/>
              <a:defRPr sz="1999"/>
            </a:lvl4pPr>
            <a:lvl5pPr marL="1828061" indent="0">
              <a:buNone/>
              <a:defRPr sz="1999"/>
            </a:lvl5pPr>
            <a:lvl6pPr marL="2285075" indent="0">
              <a:buNone/>
              <a:defRPr sz="1999"/>
            </a:lvl6pPr>
            <a:lvl7pPr marL="2742091" indent="0">
              <a:buNone/>
              <a:defRPr sz="1999"/>
            </a:lvl7pPr>
            <a:lvl8pPr marL="3199106" indent="0">
              <a:buNone/>
              <a:defRPr sz="1999"/>
            </a:lvl8pPr>
            <a:lvl9pPr marL="3656122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84557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60BC07-6ED7-3175-D777-2759DB921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9DB65-9933-5949-A30C-BACC5667C6E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FB001F-6017-AACC-8C93-87395FAA4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BC24C-DA65-1570-419F-C67173C74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9E1B7-998E-E74D-BECC-AB7ACE50320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9FCCCF-CC39-D6F6-9B3B-C4818398BE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857250"/>
            <a:ext cx="10515600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1170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378441" y="611860"/>
            <a:ext cx="6456000" cy="124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378441" y="2177496"/>
            <a:ext cx="9429544" cy="36891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378442" y="6312939"/>
            <a:ext cx="2844800" cy="18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sz="1200">
                <a:solidFill>
                  <a:srgbClr val="003056"/>
                </a:solidFill>
              </a:defRPr>
            </a:lvl1pPr>
          </a:lstStyle>
          <a:p>
            <a:fld id="{37F9DB65-9933-5949-A30C-BACC5667C6E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378441" y="6060997"/>
            <a:ext cx="3860800" cy="18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sz="1200">
                <a:solidFill>
                  <a:srgbClr val="003056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9415150" y="6312939"/>
            <a:ext cx="1405947" cy="18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1200">
                <a:solidFill>
                  <a:srgbClr val="003056"/>
                </a:solidFill>
              </a:defRPr>
            </a:lvl1pPr>
          </a:lstStyle>
          <a:p>
            <a:fld id="{07F9E1B7-998E-E74D-BECC-AB7ACE50320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5" t="18766" r="9494" b="24201"/>
          <a:stretch/>
        </p:blipFill>
        <p:spPr>
          <a:xfrm>
            <a:off x="9008304" y="488837"/>
            <a:ext cx="2196529" cy="61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644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55" r:id="rId8"/>
  </p:sldLayoutIdLst>
  <p:txStyles>
    <p:titleStyle>
      <a:lvl1pPr algn="l" defTabSz="914031" rtl="0" eaLnBrk="1" latinLnBrk="0" hangingPunct="1">
        <a:spcBef>
          <a:spcPct val="0"/>
        </a:spcBef>
        <a:buNone/>
        <a:defRPr sz="2999" b="1" kern="1200" baseline="0">
          <a:solidFill>
            <a:srgbClr val="003056"/>
          </a:solidFill>
          <a:latin typeface="+mj-lt"/>
          <a:ea typeface="+mj-ea"/>
          <a:cs typeface="+mj-cs"/>
        </a:defRPr>
      </a:lvl1pPr>
    </p:titleStyle>
    <p:bodyStyle>
      <a:lvl1pPr marL="342761" indent="-342761" algn="l" defTabSz="914031" rtl="0" eaLnBrk="1" latinLnBrk="0" hangingPunct="1">
        <a:spcBef>
          <a:spcPct val="20000"/>
        </a:spcBef>
        <a:buFont typeface="Arial" panose="020B0604020202020204" pitchFamily="34" charset="0"/>
        <a:buChar char="•"/>
        <a:defRPr sz="2399" kern="1200">
          <a:solidFill>
            <a:srgbClr val="003056"/>
          </a:solidFill>
          <a:latin typeface="+mn-lt"/>
          <a:ea typeface="+mn-ea"/>
          <a:cs typeface="+mn-cs"/>
        </a:defRPr>
      </a:lvl1pPr>
      <a:lvl2pPr marL="742650" indent="-285634" algn="l" defTabSz="914031" rtl="0" eaLnBrk="1" latinLnBrk="0" hangingPunct="1">
        <a:spcBef>
          <a:spcPct val="20000"/>
        </a:spcBef>
        <a:buFont typeface="Arial" panose="020B0604020202020204" pitchFamily="34" charset="0"/>
        <a:buChar char="–"/>
        <a:defRPr sz="1999" kern="1200">
          <a:solidFill>
            <a:srgbClr val="003056"/>
          </a:solidFill>
          <a:latin typeface="+mn-lt"/>
          <a:ea typeface="+mn-ea"/>
          <a:cs typeface="+mn-cs"/>
        </a:defRPr>
      </a:lvl2pPr>
      <a:lvl3pPr marL="1142538" indent="-228507" algn="l" defTabSz="914031" rtl="0" eaLnBrk="1" latinLnBrk="0" hangingPunct="1">
        <a:spcBef>
          <a:spcPct val="20000"/>
        </a:spcBef>
        <a:buFont typeface="Arial" panose="020B0604020202020204" pitchFamily="34" charset="0"/>
        <a:buChar char="•"/>
        <a:defRPr sz="1799" kern="1200">
          <a:solidFill>
            <a:srgbClr val="003056"/>
          </a:solidFill>
          <a:latin typeface="+mn-lt"/>
          <a:ea typeface="+mn-ea"/>
          <a:cs typeface="+mn-cs"/>
        </a:defRPr>
      </a:lvl3pPr>
      <a:lvl4pPr marL="1599554" indent="-228507" algn="l" defTabSz="914031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rgbClr val="003056"/>
          </a:solidFill>
          <a:latin typeface="+mn-lt"/>
          <a:ea typeface="+mn-ea"/>
          <a:cs typeface="+mn-cs"/>
        </a:defRPr>
      </a:lvl4pPr>
      <a:lvl5pPr marL="2056568" indent="-228507" algn="l" defTabSz="914031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rgbClr val="003056"/>
          </a:solidFill>
          <a:latin typeface="+mn-lt"/>
          <a:ea typeface="+mn-ea"/>
          <a:cs typeface="+mn-cs"/>
        </a:defRPr>
      </a:lvl5pPr>
      <a:lvl6pPr marL="2513584" indent="-228507" algn="l" defTabSz="914031" rtl="0" eaLnBrk="1" latinLnBrk="0" hangingPunct="1">
        <a:spcBef>
          <a:spcPct val="200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599" indent="-228507" algn="l" defTabSz="914031" rtl="0" eaLnBrk="1" latinLnBrk="0" hangingPunct="1">
        <a:spcBef>
          <a:spcPct val="200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14" indent="-228507" algn="l" defTabSz="914031" rtl="0" eaLnBrk="1" latinLnBrk="0" hangingPunct="1">
        <a:spcBef>
          <a:spcPct val="200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29" indent="-228507" algn="l" defTabSz="914031" rtl="0" eaLnBrk="1" latinLnBrk="0" hangingPunct="1">
        <a:spcBef>
          <a:spcPct val="200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031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5" algn="l" defTabSz="914031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1" algn="l" defTabSz="914031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46" algn="l" defTabSz="914031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1" algn="l" defTabSz="914031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75" algn="l" defTabSz="914031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091" algn="l" defTabSz="914031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06" algn="l" defTabSz="914031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22" algn="l" defTabSz="914031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804CA-7C20-9FCB-5D01-6757DC59D1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Presentation: IE500 Data Mining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FF942-16BE-3BEB-4B98-E8D1398F4A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b="1" dirty="0"/>
              <a:t>Ethnic Bias and Generalization in Facial Attractiveness Prediction from Geometric Beauty Markers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5EB629-7715-1F1C-D712-65C5971DA163}"/>
              </a:ext>
            </a:extLst>
          </p:cNvPr>
          <p:cNvSpPr txBox="1"/>
          <p:nvPr/>
        </p:nvSpPr>
        <p:spPr>
          <a:xfrm>
            <a:off x="1378442" y="5922976"/>
            <a:ext cx="730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Team Number: 3</a:t>
            </a:r>
          </a:p>
          <a:p>
            <a:r>
              <a:rPr lang="en-US" dirty="0">
                <a:solidFill>
                  <a:schemeClr val="tx2"/>
                </a:solidFill>
              </a:rPr>
              <a:t>Maxim Froehlich, David Siregar, Timon Kuhl, Lars </a:t>
            </a:r>
            <a:r>
              <a:rPr lang="en-US" dirty="0" err="1">
                <a:solidFill>
                  <a:schemeClr val="tx2"/>
                </a:solidFill>
              </a:rPr>
              <a:t>Bullmahn</a:t>
            </a:r>
            <a:r>
              <a:rPr lang="en-US" dirty="0">
                <a:solidFill>
                  <a:schemeClr val="tx2"/>
                </a:solidFill>
              </a:rPr>
              <a:t>, Simon Heinz</a:t>
            </a:r>
          </a:p>
        </p:txBody>
      </p:sp>
    </p:spTree>
    <p:extLst>
      <p:ext uri="{BB962C8B-B14F-4D97-AF65-F5344CB8AC3E}">
        <p14:creationId xmlns:p14="http://schemas.microsoft.com/office/powerpoint/2010/main" val="2209340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 descr="Ein Bild, das Menschliches Gesicht, Haut, Lippe, Vorderkopf enthält.&#10;&#10;KI-generierte Inhalte können fehlerhaft sein.">
            <a:extLst>
              <a:ext uri="{FF2B5EF4-FFF2-40B4-BE49-F238E27FC236}">
                <a16:creationId xmlns:a16="http://schemas.microsoft.com/office/drawing/2014/main" id="{37623A99-E847-7C8F-8F56-F24723032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275" y="1253327"/>
            <a:ext cx="9791176" cy="337228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9AEA654-9628-35B1-481B-630FAEFDA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441" y="611860"/>
            <a:ext cx="6456000" cy="543874"/>
          </a:xfrm>
        </p:spPr>
        <p:txBody>
          <a:bodyPr/>
          <a:lstStyle/>
          <a:p>
            <a:r>
              <a:rPr lang="de-DE" sz="2950">
                <a:ea typeface="Calibri"/>
                <a:cs typeface="Calibri"/>
              </a:rPr>
              <a:t>Problem Statement</a:t>
            </a:r>
            <a:endParaRPr lang="de-DE" dirty="0" err="1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8A78841-7539-4C38-C660-16C809430CAE}"/>
              </a:ext>
            </a:extLst>
          </p:cNvPr>
          <p:cNvSpPr/>
          <p:nvPr/>
        </p:nvSpPr>
        <p:spPr>
          <a:xfrm>
            <a:off x="132923" y="5236223"/>
            <a:ext cx="2752184" cy="9164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de-DE" b="1" dirty="0">
                <a:latin typeface="Arial"/>
                <a:ea typeface="Calibri"/>
                <a:cs typeface="Arial"/>
              </a:rPr>
              <a:t>Facial </a:t>
            </a:r>
            <a:r>
              <a:rPr lang="de-DE" b="1" dirty="0" err="1">
                <a:latin typeface="Arial"/>
                <a:ea typeface="Calibri"/>
                <a:cs typeface="Arial"/>
              </a:rPr>
              <a:t>features</a:t>
            </a:r>
            <a:endParaRPr lang="de-DE" b="1">
              <a:latin typeface="Arial"/>
              <a:ea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de-DE" b="1" dirty="0">
                <a:latin typeface="Arial"/>
                <a:ea typeface="Calibri"/>
                <a:cs typeface="Arial"/>
              </a:rPr>
              <a:t>Cultural </a:t>
            </a:r>
            <a:r>
              <a:rPr lang="de-DE" b="1" dirty="0" err="1">
                <a:latin typeface="Arial"/>
                <a:ea typeface="Calibri"/>
                <a:cs typeface="Arial"/>
              </a:rPr>
              <a:t>preferences</a:t>
            </a:r>
            <a:endParaRPr lang="de-DE" dirty="0" err="1">
              <a:latin typeface="Arial"/>
              <a:ea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de-DE" b="1" dirty="0" err="1">
                <a:latin typeface="Arial"/>
                <a:ea typeface="Calibri"/>
                <a:cs typeface="Arial"/>
              </a:rPr>
              <a:t>Social</a:t>
            </a:r>
            <a:r>
              <a:rPr lang="de-DE" b="1" dirty="0">
                <a:latin typeface="Arial"/>
                <a:ea typeface="Calibri"/>
                <a:cs typeface="Arial"/>
              </a:rPr>
              <a:t> stereotypes</a:t>
            </a:r>
            <a:endParaRPr lang="de-DE" dirty="0">
              <a:latin typeface="Arial"/>
              <a:ea typeface="Calibri"/>
              <a:cs typeface="Arial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50F1EC8-9789-7807-FE31-BC82E2D0E045}"/>
              </a:ext>
            </a:extLst>
          </p:cNvPr>
          <p:cNvSpPr/>
          <p:nvPr/>
        </p:nvSpPr>
        <p:spPr>
          <a:xfrm>
            <a:off x="4397058" y="5236221"/>
            <a:ext cx="1821081" cy="9143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b="1" dirty="0" err="1">
                <a:latin typeface="Arial"/>
                <a:ea typeface="Calibri"/>
                <a:cs typeface="Arial"/>
              </a:rPr>
              <a:t>Perceived</a:t>
            </a:r>
            <a:r>
              <a:rPr lang="de-DE" b="1" dirty="0">
                <a:latin typeface="Arial"/>
                <a:ea typeface="Calibri"/>
                <a:cs typeface="Arial"/>
              </a:rPr>
              <a:t> Facial </a:t>
            </a:r>
            <a:r>
              <a:rPr lang="de-DE" b="1" dirty="0" err="1">
                <a:latin typeface="Arial"/>
                <a:ea typeface="Calibri"/>
                <a:cs typeface="Arial"/>
              </a:rPr>
              <a:t>attractiveness</a:t>
            </a:r>
            <a:endParaRPr lang="de-DE" dirty="0" err="1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55F4F78-F70E-26F2-65D9-C1E608879745}"/>
              </a:ext>
            </a:extLst>
          </p:cNvPr>
          <p:cNvSpPr/>
          <p:nvPr/>
        </p:nvSpPr>
        <p:spPr>
          <a:xfrm>
            <a:off x="7666377" y="4538569"/>
            <a:ext cx="2573435" cy="231300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de-DE" b="1" dirty="0">
                <a:latin typeface="Arial"/>
                <a:ea typeface="Calibri"/>
                <a:cs typeface="Arial"/>
              </a:rPr>
              <a:t>Real </a:t>
            </a:r>
            <a:r>
              <a:rPr lang="de-DE" b="1" dirty="0" err="1">
                <a:latin typeface="Arial"/>
                <a:ea typeface="Calibri"/>
                <a:cs typeface="Arial"/>
              </a:rPr>
              <a:t>world</a:t>
            </a:r>
            <a:r>
              <a:rPr lang="de-DE" b="1" dirty="0">
                <a:latin typeface="Arial"/>
                <a:ea typeface="Calibri"/>
                <a:cs typeface="Arial"/>
              </a:rPr>
              <a:t> </a:t>
            </a:r>
            <a:r>
              <a:rPr lang="de-DE" b="1" dirty="0" err="1">
                <a:latin typeface="Arial"/>
                <a:ea typeface="Calibri"/>
                <a:cs typeface="Arial"/>
              </a:rPr>
              <a:t>decisions</a:t>
            </a:r>
            <a:endParaRPr lang="de-DE" b="1">
              <a:latin typeface="Arial"/>
              <a:ea typeface="Calibri"/>
              <a:cs typeface="Arial"/>
            </a:endParaRPr>
          </a:p>
          <a:p>
            <a:endParaRPr lang="de-DE" b="1" dirty="0">
              <a:latin typeface="Arial"/>
              <a:ea typeface="+mn-lt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de-DE" b="1" dirty="0" err="1">
                <a:latin typeface="Arial"/>
                <a:ea typeface="+mn-lt"/>
                <a:cs typeface="Arial"/>
              </a:rPr>
              <a:t>Social</a:t>
            </a:r>
            <a:r>
              <a:rPr lang="de-DE" b="1" dirty="0">
                <a:latin typeface="Arial"/>
                <a:ea typeface="+mn-lt"/>
                <a:cs typeface="Arial"/>
              </a:rPr>
              <a:t> Media </a:t>
            </a:r>
            <a:r>
              <a:rPr lang="de-DE" b="1" dirty="0" err="1">
                <a:latin typeface="Arial"/>
                <a:ea typeface="+mn-lt"/>
                <a:cs typeface="Arial"/>
              </a:rPr>
              <a:t>Recommendations</a:t>
            </a:r>
            <a:endParaRPr lang="de-DE" dirty="0" err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de-DE" b="1" dirty="0" err="1">
                <a:latin typeface="Arial"/>
                <a:ea typeface="Calibri"/>
                <a:cs typeface="Arial"/>
              </a:rPr>
              <a:t>Surgical</a:t>
            </a:r>
            <a:r>
              <a:rPr lang="de-DE" b="1" dirty="0">
                <a:latin typeface="Arial"/>
                <a:ea typeface="Calibri"/>
                <a:cs typeface="Arial"/>
              </a:rPr>
              <a:t> </a:t>
            </a:r>
            <a:r>
              <a:rPr lang="de-DE" b="1" dirty="0" err="1">
                <a:latin typeface="Arial"/>
                <a:ea typeface="Calibri"/>
                <a:cs typeface="Arial"/>
              </a:rPr>
              <a:t>planning</a:t>
            </a:r>
            <a:endParaRPr lang="de-DE" b="1">
              <a:latin typeface="Arial"/>
              <a:ea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de-DE" b="1" err="1">
                <a:latin typeface="Arial"/>
                <a:ea typeface="Calibri"/>
                <a:cs typeface="Arial"/>
              </a:rPr>
              <a:t>employment</a:t>
            </a:r>
            <a:endParaRPr lang="de-DE" b="1" dirty="0" err="1">
              <a:latin typeface="Arial"/>
              <a:ea typeface="Calibri"/>
              <a:cs typeface="Arial"/>
            </a:endParaRPr>
          </a:p>
          <a:p>
            <a:endParaRPr lang="de-DE" b="1" dirty="0">
              <a:latin typeface="Arial"/>
              <a:ea typeface="Calibri"/>
              <a:cs typeface="Arial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C8C499AE-6575-B69D-F217-A36237306326}"/>
              </a:ext>
            </a:extLst>
          </p:cNvPr>
          <p:cNvSpPr txBox="1"/>
          <p:nvPr/>
        </p:nvSpPr>
        <p:spPr>
          <a:xfrm>
            <a:off x="3048000" y="5240054"/>
            <a:ext cx="27118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dirty="0" err="1">
                <a:ea typeface="Calibri"/>
                <a:cs typeface="Calibri"/>
              </a:rPr>
              <a:t>influence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201B3312-5329-8AA8-831D-CEE2FD5F487A}"/>
              </a:ext>
            </a:extLst>
          </p:cNvPr>
          <p:cNvSpPr txBox="1"/>
          <p:nvPr/>
        </p:nvSpPr>
        <p:spPr>
          <a:xfrm>
            <a:off x="6336082" y="5240053"/>
            <a:ext cx="11878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dirty="0" err="1">
                <a:ea typeface="Calibri"/>
                <a:cs typeface="Calibri"/>
              </a:rPr>
              <a:t>influences</a:t>
            </a:r>
            <a:endParaRPr lang="de-DE" dirty="0" err="1"/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7159DC28-9504-4FDB-9615-B204B06EC06A}"/>
              </a:ext>
            </a:extLst>
          </p:cNvPr>
          <p:cNvCxnSpPr/>
          <p:nvPr/>
        </p:nvCxnSpPr>
        <p:spPr>
          <a:xfrm>
            <a:off x="2901863" y="5647150"/>
            <a:ext cx="1492684" cy="1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1C1D1B4E-F8A7-0801-69D8-2CF18E988686}"/>
              </a:ext>
            </a:extLst>
          </p:cNvPr>
          <p:cNvCxnSpPr>
            <a:cxnSpLocks/>
          </p:cNvCxnSpPr>
          <p:nvPr/>
        </p:nvCxnSpPr>
        <p:spPr>
          <a:xfrm>
            <a:off x="6169068" y="5605396"/>
            <a:ext cx="1492684" cy="1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805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33459-D88C-9E51-8C09-33211821E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777F8-4168-646A-37B7-9928FC97C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BD748-57D5-996B-1C02-778B877F1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441" y="4307656"/>
            <a:ext cx="10515600" cy="438696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Combined: 17,870 faces</a:t>
            </a:r>
            <a:endParaRPr lang="en-US" sz="2000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49F1FB-7CE7-173C-54AC-19DC07FBB5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837119"/>
              </p:ext>
            </p:extLst>
          </p:nvPr>
        </p:nvGraphicFramePr>
        <p:xfrm>
          <a:off x="1378441" y="2242202"/>
          <a:ext cx="9975360" cy="1902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072">
                  <a:extLst>
                    <a:ext uri="{9D8B030D-6E8A-4147-A177-3AD203B41FA5}">
                      <a16:colId xmlns:a16="http://schemas.microsoft.com/office/drawing/2014/main" val="1343476123"/>
                    </a:ext>
                  </a:extLst>
                </a:gridCol>
                <a:gridCol w="1995072">
                  <a:extLst>
                    <a:ext uri="{9D8B030D-6E8A-4147-A177-3AD203B41FA5}">
                      <a16:colId xmlns:a16="http://schemas.microsoft.com/office/drawing/2014/main" val="1034481552"/>
                    </a:ext>
                  </a:extLst>
                </a:gridCol>
                <a:gridCol w="1995072">
                  <a:extLst>
                    <a:ext uri="{9D8B030D-6E8A-4147-A177-3AD203B41FA5}">
                      <a16:colId xmlns:a16="http://schemas.microsoft.com/office/drawing/2014/main" val="3572996693"/>
                    </a:ext>
                  </a:extLst>
                </a:gridCol>
                <a:gridCol w="1995072">
                  <a:extLst>
                    <a:ext uri="{9D8B030D-6E8A-4147-A177-3AD203B41FA5}">
                      <a16:colId xmlns:a16="http://schemas.microsoft.com/office/drawing/2014/main" val="3370314518"/>
                    </a:ext>
                  </a:extLst>
                </a:gridCol>
                <a:gridCol w="1995072">
                  <a:extLst>
                    <a:ext uri="{9D8B030D-6E8A-4147-A177-3AD203B41FA5}">
                      <a16:colId xmlns:a16="http://schemas.microsoft.com/office/drawing/2014/main" val="2828536713"/>
                    </a:ext>
                  </a:extLst>
                </a:gridCol>
              </a:tblGrid>
              <a:tr h="4756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Dataset</a:t>
                      </a:r>
                    </a:p>
                  </a:txBody>
                  <a:tcP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Scale</a:t>
                      </a:r>
                    </a:p>
                  </a:txBody>
                  <a:tcP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Ethnicities</a:t>
                      </a:r>
                    </a:p>
                  </a:txBody>
                  <a:tcP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Raters/Image</a:t>
                      </a:r>
                    </a:p>
                  </a:txBody>
                  <a:tcP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483689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SCUT-FBP5500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Asian, Caucasian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595911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MEBeauty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~300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5049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LiveBeauty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~20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284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262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779C5-88BE-233E-8677-4672D8D38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6E9D9-0B19-541D-ABF4-3EA2AFBC0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Ethnic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79F2D-E283-35B6-D810-C8990663D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1" y="2722245"/>
            <a:ext cx="4025900" cy="1900555"/>
          </a:xfrm>
        </p:spPr>
        <p:txBody>
          <a:bodyPr>
            <a:normAutofit/>
          </a:bodyPr>
          <a:lstStyle/>
          <a:p>
            <a:pPr>
              <a:buSzPct val="120000"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Heavy imbalance</a:t>
            </a:r>
            <a:endParaRPr lang="en-US" sz="1600" dirty="0"/>
          </a:p>
          <a:p>
            <a:pPr marL="0" indent="0">
              <a:buNone/>
            </a:pPr>
            <a:r>
              <a:rPr lang="en-US" sz="2000" dirty="0"/>
              <a:t>80% Asian faces due to the </a:t>
            </a:r>
            <a:r>
              <a:rPr lang="en-US" sz="2000" dirty="0" err="1"/>
              <a:t>LiveBeauty</a:t>
            </a:r>
            <a:r>
              <a:rPr lang="en-US" sz="2000" dirty="0"/>
              <a:t> dataset. minority groups have very few samples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29369F-5877-30CB-B968-DAD901F33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294373"/>
              </p:ext>
            </p:extLst>
          </p:nvPr>
        </p:nvGraphicFramePr>
        <p:xfrm>
          <a:off x="1378440" y="1757045"/>
          <a:ext cx="5250960" cy="4351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0320">
                  <a:extLst>
                    <a:ext uri="{9D8B030D-6E8A-4147-A177-3AD203B41FA5}">
                      <a16:colId xmlns:a16="http://schemas.microsoft.com/office/drawing/2014/main" val="1343476123"/>
                    </a:ext>
                  </a:extLst>
                </a:gridCol>
                <a:gridCol w="1750320">
                  <a:extLst>
                    <a:ext uri="{9D8B030D-6E8A-4147-A177-3AD203B41FA5}">
                      <a16:colId xmlns:a16="http://schemas.microsoft.com/office/drawing/2014/main" val="1034481552"/>
                    </a:ext>
                  </a:extLst>
                </a:gridCol>
                <a:gridCol w="1750320">
                  <a:extLst>
                    <a:ext uri="{9D8B030D-6E8A-4147-A177-3AD203B41FA5}">
                      <a16:colId xmlns:a16="http://schemas.microsoft.com/office/drawing/2014/main" val="3572996693"/>
                    </a:ext>
                  </a:extLst>
                </a:gridCol>
              </a:tblGrid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Ethnicity</a:t>
                      </a:r>
                    </a:p>
                  </a:txBody>
                  <a:tcPr marL="123825" marR="123825" marT="57150" marB="5715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>
                          <a:effectLst/>
                        </a:rPr>
                        <a:t>N</a:t>
                      </a:r>
                    </a:p>
                  </a:txBody>
                  <a:tcPr marL="123825" marR="123825" marT="57150" marB="5715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>
                          <a:effectLst/>
                        </a:rPr>
                        <a:t>%</a:t>
                      </a:r>
                    </a:p>
                  </a:txBody>
                  <a:tcPr marL="123825" marR="123825" marT="57150" marB="5715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483689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Asian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effectLst/>
                        </a:rPr>
                        <a:t>14,351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80.3%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270595911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Caucasian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2,480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effectLst/>
                        </a:rPr>
                        <a:t>13.9%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0975049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Black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296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1.7%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459284638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Hispanic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296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1.7%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794068373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Mid-Eastern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291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1.6%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715055137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Indian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156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effectLst/>
                        </a:rPr>
                        <a:t>0.9%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007707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9657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BFDBB-11E7-EFAB-10D4-624D34FB0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11195-CC39-3598-E50D-12B1DB3CA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0909"/>
            <a:ext cx="4597053" cy="4173886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 algn="ctr">
              <a:spcBef>
                <a:spcPts val="1600"/>
              </a:spcBef>
              <a:buSzPct val="120000"/>
              <a:buNone/>
            </a:pPr>
            <a:r>
              <a:rPr lang="en-US" sz="2350" b="1">
                <a:ea typeface="Calibri"/>
                <a:cs typeface="Calibri"/>
              </a:rPr>
              <a:t>Generalization</a:t>
            </a:r>
            <a:endParaRPr lang="en-US" sz="2350" b="1" dirty="0">
              <a:ea typeface="Calibri"/>
              <a:cs typeface="Calibri"/>
            </a:endParaRPr>
          </a:p>
          <a:p>
            <a:pPr marL="0" indent="0">
              <a:spcBef>
                <a:spcPts val="1600"/>
              </a:spcBef>
              <a:buNone/>
            </a:pPr>
            <a:endParaRPr lang="en-US" sz="2350" b="1" dirty="0"/>
          </a:p>
          <a:p>
            <a:pPr marL="0" indent="0">
              <a:spcBef>
                <a:spcPts val="1600"/>
              </a:spcBef>
              <a:buNone/>
            </a:pPr>
            <a:endParaRPr lang="en-US" sz="2350" b="1" dirty="0"/>
          </a:p>
          <a:p>
            <a:pPr marL="0" indent="0">
              <a:spcBef>
                <a:spcPts val="1600"/>
              </a:spcBef>
              <a:buNone/>
            </a:pPr>
            <a:endParaRPr lang="en-US" sz="2350" b="1" dirty="0"/>
          </a:p>
          <a:p>
            <a:pPr marL="0" indent="0">
              <a:spcBef>
                <a:spcPts val="1600"/>
              </a:spcBef>
              <a:buNone/>
            </a:pPr>
            <a:endParaRPr lang="en-US" sz="2800" b="1" dirty="0"/>
          </a:p>
          <a:p>
            <a:pPr marL="0" indent="0">
              <a:spcBef>
                <a:spcPts val="1600"/>
              </a:spcBef>
              <a:buNone/>
            </a:pPr>
            <a:r>
              <a:rPr lang="en-US" sz="2800" b="1"/>
              <a:t>RQ1:</a:t>
            </a:r>
            <a:r>
              <a:rPr lang="en-US" sz="2800"/>
              <a:t> Do models generalize across ethnicities?</a:t>
            </a:r>
            <a:endParaRPr lang="en-US" sz="2800">
              <a:ea typeface="Calibri"/>
              <a:cs typeface="Calibri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C1DF62-F1AC-FDA0-0E2F-9ADC7670C4E4}"/>
              </a:ext>
            </a:extLst>
          </p:cNvPr>
          <p:cNvSpPr txBox="1"/>
          <p:nvPr/>
        </p:nvSpPr>
        <p:spPr>
          <a:xfrm>
            <a:off x="5438384" y="1607507"/>
            <a:ext cx="4601225" cy="41755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1600"/>
              </a:spcBef>
            </a:pPr>
            <a:r>
              <a:rPr lang="en-US" sz="2800" b="1">
                <a:solidFill>
                  <a:srgbClr val="003056"/>
                </a:solidFill>
                <a:ea typeface="Calibri"/>
                <a:cs typeface="Calibri"/>
              </a:rPr>
              <a:t>Interpretability</a:t>
            </a:r>
            <a:endParaRPr lang="en-US" sz="2800" dirty="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spcBef>
                <a:spcPts val="1600"/>
              </a:spcBef>
            </a:pPr>
            <a:endParaRPr lang="en-US" sz="2800" dirty="0">
              <a:ea typeface="Calibri"/>
              <a:cs typeface="Calibri"/>
            </a:endParaRPr>
          </a:p>
          <a:p>
            <a:endParaRPr lang="en-US" sz="2800" b="1" dirty="0">
              <a:solidFill>
                <a:srgbClr val="003056"/>
              </a:solidFill>
              <a:ea typeface="Calibri"/>
              <a:cs typeface="Calibri"/>
            </a:endParaRPr>
          </a:p>
          <a:p>
            <a:endParaRPr lang="en-US" sz="2800" b="1" dirty="0">
              <a:solidFill>
                <a:srgbClr val="003056"/>
              </a:solidFill>
              <a:ea typeface="Calibri"/>
              <a:cs typeface="Calibri"/>
            </a:endParaRPr>
          </a:p>
          <a:p>
            <a:endParaRPr lang="en-US" sz="2800" b="1" dirty="0">
              <a:solidFill>
                <a:srgbClr val="003056"/>
              </a:solidFill>
              <a:ea typeface="Calibri"/>
              <a:cs typeface="Calibri"/>
            </a:endParaRPr>
          </a:p>
          <a:p>
            <a:r>
              <a:rPr lang="en-US" sz="2800" b="1">
                <a:solidFill>
                  <a:srgbClr val="003056"/>
                </a:solidFill>
                <a:ea typeface="Calibri"/>
                <a:cs typeface="Calibri"/>
              </a:rPr>
              <a:t>RQ2:</a:t>
            </a:r>
            <a:r>
              <a:rPr lang="en-US" sz="2800" dirty="0">
                <a:solidFill>
                  <a:srgbClr val="003056"/>
                </a:solidFill>
                <a:ea typeface="Calibri"/>
                <a:cs typeface="Calibri"/>
              </a:rPr>
              <a:t> </a:t>
            </a:r>
            <a:r>
              <a:rPr lang="en-US" sz="2800">
                <a:solidFill>
                  <a:srgbClr val="003056"/>
                </a:solidFill>
                <a:ea typeface="+mn-lt"/>
                <a:cs typeface="+mn-lt"/>
              </a:rPr>
              <a:t>Which </a:t>
            </a:r>
            <a:r>
              <a:rPr lang="en-US" sz="2800" dirty="0">
                <a:solidFill>
                  <a:srgbClr val="003056"/>
                </a:solidFill>
                <a:ea typeface="+mn-lt"/>
                <a:cs typeface="+mn-lt"/>
              </a:rPr>
              <a:t>geometric facial measurements drive attractiveness predictions across </a:t>
            </a:r>
            <a:r>
              <a:rPr lang="en-US" sz="2800">
                <a:solidFill>
                  <a:srgbClr val="003056"/>
                </a:solidFill>
                <a:ea typeface="+mn-lt"/>
                <a:cs typeface="+mn-lt"/>
              </a:rPr>
              <a:t>ethnic groups</a:t>
            </a:r>
            <a:endParaRPr lang="de-DE" sz="28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0885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4AF983-A949-72AB-B412-B6A188DB9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950" dirty="0">
                <a:ea typeface="Calibri"/>
                <a:cs typeface="Calibri"/>
              </a:rPr>
              <a:t>Method </a:t>
            </a:r>
            <a:r>
              <a:rPr lang="de-DE" sz="2950" dirty="0" err="1">
                <a:ea typeface="Calibri"/>
                <a:cs typeface="Calibri"/>
              </a:rPr>
              <a:t>overview</a:t>
            </a:r>
            <a:endParaRPr lang="de-DE" dirty="0" err="1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3ADE143-399D-0FEB-A20A-B270A47B1EDC}"/>
              </a:ext>
            </a:extLst>
          </p:cNvPr>
          <p:cNvSpPr/>
          <p:nvPr/>
        </p:nvSpPr>
        <p:spPr>
          <a:xfrm>
            <a:off x="9948678" y="3561065"/>
            <a:ext cx="2052180" cy="94571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ea typeface="+mn-lt"/>
                <a:cs typeface="+mn-lt"/>
              </a:rPr>
              <a:t>Fairness &amp; </a:t>
            </a:r>
            <a:r>
              <a:rPr lang="de-DE" dirty="0" err="1">
                <a:ea typeface="+mn-lt"/>
                <a:cs typeface="+mn-lt"/>
              </a:rPr>
              <a:t>Generalization</a:t>
            </a:r>
            <a:r>
              <a:rPr lang="de-DE" dirty="0">
                <a:ea typeface="+mn-lt"/>
                <a:cs typeface="+mn-lt"/>
              </a:rPr>
              <a:t> Analysis</a:t>
            </a:r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F827CE9-C232-FC47-22F0-018E105DC3E9}"/>
              </a:ext>
            </a:extLst>
          </p:cNvPr>
          <p:cNvSpPr/>
          <p:nvPr/>
        </p:nvSpPr>
        <p:spPr>
          <a:xfrm>
            <a:off x="626300" y="5062601"/>
            <a:ext cx="2052180" cy="94571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b="1" dirty="0" err="1">
                <a:ea typeface="+mn-lt"/>
                <a:cs typeface="+mn-lt"/>
              </a:rPr>
              <a:t>LiveBeauty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83F3C29-4D19-CECC-50FF-412AC9F81C9D}"/>
              </a:ext>
            </a:extLst>
          </p:cNvPr>
          <p:cNvSpPr/>
          <p:nvPr/>
        </p:nvSpPr>
        <p:spPr>
          <a:xfrm>
            <a:off x="626300" y="3632547"/>
            <a:ext cx="2052180" cy="94571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b="1" dirty="0" err="1">
                <a:ea typeface="+mn-lt"/>
                <a:cs typeface="+mn-lt"/>
              </a:rPr>
              <a:t>MEBeauty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0782F38-7E38-5C68-AF68-C2F4C59E6E5D}"/>
              </a:ext>
            </a:extLst>
          </p:cNvPr>
          <p:cNvSpPr/>
          <p:nvPr/>
        </p:nvSpPr>
        <p:spPr>
          <a:xfrm>
            <a:off x="626300" y="2150300"/>
            <a:ext cx="2052180" cy="94571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b="1">
                <a:ea typeface="+mn-lt"/>
                <a:cs typeface="+mn-lt"/>
              </a:rPr>
              <a:t>SCUT-FBP5500</a:t>
            </a:r>
            <a:endParaRPr lang="en-US" b="1">
              <a:ea typeface="Calibri"/>
              <a:cs typeface="Calibri"/>
            </a:endParaRPr>
          </a:p>
        </p:txBody>
      </p:sp>
      <p:pic>
        <p:nvPicPr>
          <p:cNvPr id="9" name="Grafik 8" descr="Face Landmarker keypoints">
            <a:extLst>
              <a:ext uri="{FF2B5EF4-FFF2-40B4-BE49-F238E27FC236}">
                <a16:creationId xmlns:a16="http://schemas.microsoft.com/office/drawing/2014/main" id="{7EAA484F-EA4B-DE8E-9604-4A2B97F72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167" y="3291199"/>
            <a:ext cx="1208762" cy="1632587"/>
          </a:xfrm>
          <a:prstGeom prst="rect">
            <a:avLst/>
          </a:prstGeom>
        </p:spPr>
      </p:pic>
      <p:pic>
        <p:nvPicPr>
          <p:cNvPr id="10" name="Grafik 9" descr="Ein Bild, das Text, Screenshot, Schrift, Karte Menü enthält.&#10;&#10;KI-generierte Inhalte können fehlerhaft sein.">
            <a:extLst>
              <a:ext uri="{FF2B5EF4-FFF2-40B4-BE49-F238E27FC236}">
                <a16:creationId xmlns:a16="http://schemas.microsoft.com/office/drawing/2014/main" id="{8E2D2FEE-EE4D-A8CD-35E3-F1D209F68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292" y="2400821"/>
            <a:ext cx="1085880" cy="342378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EBD72E3-5E69-787A-5DB4-73F507DB2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6032" y="3294953"/>
            <a:ext cx="1576193" cy="16388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052030-BE73-D52A-48FC-D61624F565D8}"/>
              </a:ext>
            </a:extLst>
          </p:cNvPr>
          <p:cNvSpPr txBox="1"/>
          <p:nvPr/>
        </p:nvSpPr>
        <p:spPr>
          <a:xfrm>
            <a:off x="630001" y="1388961"/>
            <a:ext cx="18268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Face images from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6EB397-9507-9BEE-BF61-87A5B9155F45}"/>
              </a:ext>
            </a:extLst>
          </p:cNvPr>
          <p:cNvSpPr txBox="1"/>
          <p:nvPr/>
        </p:nvSpPr>
        <p:spPr>
          <a:xfrm>
            <a:off x="3347410" y="1348000"/>
            <a:ext cx="133494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MediaPipe</a:t>
            </a:r>
            <a:r>
              <a:rPr lang="en-US" dirty="0">
                <a:ea typeface="+mn-lt"/>
                <a:cs typeface="+mn-lt"/>
              </a:rPr>
              <a:t> Landmarks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DE43E2-1437-1241-6900-C37EF525EF8A}"/>
              </a:ext>
            </a:extLst>
          </p:cNvPr>
          <p:cNvSpPr txBox="1"/>
          <p:nvPr/>
        </p:nvSpPr>
        <p:spPr>
          <a:xfrm>
            <a:off x="5220499" y="1392793"/>
            <a:ext cx="174970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Transformation tabular data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1F5439-57C6-00FD-0B58-A93C86D3E66C}"/>
              </a:ext>
            </a:extLst>
          </p:cNvPr>
          <p:cNvSpPr txBox="1"/>
          <p:nvPr/>
        </p:nvSpPr>
        <p:spPr>
          <a:xfrm>
            <a:off x="7448493" y="1392661"/>
            <a:ext cx="174970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Data mining process</a:t>
            </a:r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9921BB1-9263-905F-BD36-113CA8263F65}"/>
              </a:ext>
            </a:extLst>
          </p:cNvPr>
          <p:cNvCxnSpPr/>
          <p:nvPr/>
        </p:nvCxnSpPr>
        <p:spPr>
          <a:xfrm>
            <a:off x="2766164" y="4062900"/>
            <a:ext cx="728306" cy="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FBADA7-E315-8BB2-EC7C-159E5E458E34}"/>
              </a:ext>
            </a:extLst>
          </p:cNvPr>
          <p:cNvCxnSpPr>
            <a:cxnSpLocks/>
          </p:cNvCxnSpPr>
          <p:nvPr/>
        </p:nvCxnSpPr>
        <p:spPr>
          <a:xfrm flipV="1">
            <a:off x="4627758" y="4063691"/>
            <a:ext cx="718661" cy="8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4074E10-6F9D-32F8-C155-F803E5466B4F}"/>
              </a:ext>
            </a:extLst>
          </p:cNvPr>
          <p:cNvCxnSpPr>
            <a:cxnSpLocks/>
          </p:cNvCxnSpPr>
          <p:nvPr/>
        </p:nvCxnSpPr>
        <p:spPr>
          <a:xfrm flipV="1">
            <a:off x="2717936" y="4420578"/>
            <a:ext cx="737951" cy="1118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FC1E549-54A3-7E6D-18FB-31B95726825C}"/>
              </a:ext>
            </a:extLst>
          </p:cNvPr>
          <p:cNvCxnSpPr>
            <a:cxnSpLocks/>
          </p:cNvCxnSpPr>
          <p:nvPr/>
        </p:nvCxnSpPr>
        <p:spPr>
          <a:xfrm>
            <a:off x="2717935" y="2548545"/>
            <a:ext cx="737952" cy="1052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EFDD00A-A547-ADA0-4907-0E9FFAC9161E}"/>
              </a:ext>
            </a:extLst>
          </p:cNvPr>
          <p:cNvCxnSpPr>
            <a:cxnSpLocks/>
          </p:cNvCxnSpPr>
          <p:nvPr/>
        </p:nvCxnSpPr>
        <p:spPr>
          <a:xfrm>
            <a:off x="6508645" y="4062900"/>
            <a:ext cx="728306" cy="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F1D1EA0-9A0D-144A-4FB1-4BD05D44914C}"/>
              </a:ext>
            </a:extLst>
          </p:cNvPr>
          <p:cNvCxnSpPr>
            <a:cxnSpLocks/>
          </p:cNvCxnSpPr>
          <p:nvPr/>
        </p:nvCxnSpPr>
        <p:spPr>
          <a:xfrm>
            <a:off x="9006847" y="4072545"/>
            <a:ext cx="728306" cy="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200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9D5E4-D523-7FA4-B38D-ADA5F4ED7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D1D69-85FF-081D-0A90-8985E6AAB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441" y="611860"/>
            <a:ext cx="6456000" cy="1248000"/>
          </a:xfrm>
        </p:spPr>
        <p:txBody>
          <a:bodyPr/>
          <a:lstStyle/>
          <a:p>
            <a:r>
              <a:rPr lang="en-US" sz="2950"/>
              <a:t>Feature Extraction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AAEE14-B5CF-5808-3FB9-058324D7F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7950" y="1757045"/>
            <a:ext cx="4895359" cy="3689146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478 facial landmarks per image (Google </a:t>
            </a:r>
            <a:r>
              <a:rPr lang="en-US" dirty="0" err="1"/>
              <a:t>MediaPipe</a:t>
            </a:r>
            <a:r>
              <a:rPr lang="en-US" dirty="0"/>
              <a:t> Face Mesh)</a:t>
            </a:r>
            <a:endParaRPr lang="en-US" sz="1200" dirty="0"/>
          </a:p>
          <a:p>
            <a:r>
              <a:rPr lang="en-US" dirty="0"/>
              <a:t>30 geometric ratios (e.g., eye width ratio / lip width ratio)</a:t>
            </a:r>
          </a:p>
          <a:p>
            <a:r>
              <a:rPr lang="en-US" dirty="0"/>
              <a:t>9 expression features (smile, frown, jaw open)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D2F2F5-2B43-AECF-DCB1-DCC181A72D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32" b="20109"/>
          <a:stretch>
            <a:fillRect/>
          </a:stretch>
        </p:blipFill>
        <p:spPr>
          <a:xfrm>
            <a:off x="6513555" y="1770516"/>
            <a:ext cx="4895359" cy="358954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413B338-04D1-7A12-6BCE-5C64100FAB6C}"/>
              </a:ext>
            </a:extLst>
          </p:cNvPr>
          <p:cNvSpPr/>
          <p:nvPr/>
        </p:nvSpPr>
        <p:spPr>
          <a:xfrm>
            <a:off x="4229" y="4824634"/>
            <a:ext cx="6258043" cy="91439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ea typeface="Calibri"/>
                <a:cs typeface="Calibri"/>
              </a:rPr>
              <a:t>Face rating normalization is necessary due </a:t>
            </a:r>
            <a:r>
              <a:rPr lang="en-US" sz="2400">
                <a:ea typeface="Calibri"/>
                <a:cs typeface="Calibri"/>
              </a:rPr>
              <a:t>to scale differences</a:t>
            </a:r>
          </a:p>
        </p:txBody>
      </p:sp>
    </p:spTree>
    <p:extLst>
      <p:ext uri="{BB962C8B-B14F-4D97-AF65-F5344CB8AC3E}">
        <p14:creationId xmlns:p14="http://schemas.microsoft.com/office/powerpoint/2010/main" val="782973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CB0C4-5E67-47BF-76AD-6327BC05D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EEAB4-61F5-270C-67DF-9625174EA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109C0-2953-C984-98F5-E71CEFB1C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7045"/>
            <a:ext cx="10515600" cy="4351338"/>
          </a:xfrm>
        </p:spPr>
        <p:txBody>
          <a:bodyPr/>
          <a:lstStyle/>
          <a:p>
            <a:pPr>
              <a:buSzPct val="120000"/>
            </a:pPr>
            <a:endParaRPr lang="en-US" dirty="0"/>
          </a:p>
          <a:p>
            <a:pPr>
              <a:buSzPct val="120000"/>
            </a:pPr>
            <a:endParaRPr lang="en-US" dirty="0"/>
          </a:p>
          <a:p>
            <a:pPr>
              <a:buSzPct val="120000"/>
            </a:pPr>
            <a:endParaRPr lang="en-US" dirty="0"/>
          </a:p>
          <a:p>
            <a:pPr>
              <a:buSzPct val="120000"/>
            </a:pPr>
            <a:endParaRPr lang="en-US" dirty="0"/>
          </a:p>
          <a:p>
            <a:pPr>
              <a:buSzPct val="120000"/>
            </a:pP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87B5E6-7DC2-FB93-C6FE-86430B696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798790"/>
              </p:ext>
            </p:extLst>
          </p:nvPr>
        </p:nvGraphicFramePr>
        <p:xfrm>
          <a:off x="1378441" y="1242571"/>
          <a:ext cx="9975358" cy="43104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7679">
                  <a:extLst>
                    <a:ext uri="{9D8B030D-6E8A-4147-A177-3AD203B41FA5}">
                      <a16:colId xmlns:a16="http://schemas.microsoft.com/office/drawing/2014/main" val="1343476123"/>
                    </a:ext>
                  </a:extLst>
                </a:gridCol>
                <a:gridCol w="4987679">
                  <a:extLst>
                    <a:ext uri="{9D8B030D-6E8A-4147-A177-3AD203B41FA5}">
                      <a16:colId xmlns:a16="http://schemas.microsoft.com/office/drawing/2014/main" val="1034481552"/>
                    </a:ext>
                  </a:extLst>
                </a:gridCol>
              </a:tblGrid>
              <a:tr h="3778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Model</a:t>
                      </a:r>
                    </a:p>
                  </a:txBody>
                  <a:tcPr marL="123825" marR="123825" marT="57150" marB="5715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Type</a:t>
                      </a:r>
                    </a:p>
                  </a:txBody>
                  <a:tcPr marL="123825" marR="123825" marT="57150" marB="5715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483689"/>
                  </a:ext>
                </a:extLst>
              </a:tr>
              <a:tr h="490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Global Mean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Baseline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270595911"/>
                  </a:ext>
                </a:extLst>
              </a:tr>
              <a:tr h="490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Ridge Regression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Linear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380097957"/>
                  </a:ext>
                </a:extLst>
              </a:tr>
              <a:tr h="490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Decision Tree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Interpretable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172537562"/>
                  </a:ext>
                </a:extLst>
              </a:tr>
              <a:tr h="490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</a:rPr>
                        <a:t>XGBoost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Boosted Trees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761307697"/>
                  </a:ext>
                </a:extLst>
              </a:tr>
              <a:tr h="490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LightGBM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Boosted Trees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946542002"/>
                  </a:ext>
                </a:extLst>
              </a:tr>
              <a:tr h="490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CatBoost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Boosted Trees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048820495"/>
                  </a:ext>
                </a:extLst>
              </a:tr>
              <a:tr h="490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Stacking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Ensemble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297201502"/>
                  </a:ext>
                </a:extLst>
              </a:tr>
              <a:tr h="490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MLP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Neural Network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12207087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A3FB80A-8028-A22B-3E56-E50FD3C98E93}"/>
              </a:ext>
            </a:extLst>
          </p:cNvPr>
          <p:cNvSpPr txBox="1"/>
          <p:nvPr/>
        </p:nvSpPr>
        <p:spPr>
          <a:xfrm>
            <a:off x="3469101" y="5916830"/>
            <a:ext cx="596481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Evaluation via </a:t>
            </a:r>
            <a:r>
              <a:rPr lang="en-US" dirty="0">
                <a:ea typeface="+mn-lt"/>
                <a:cs typeface="+mn-lt"/>
              </a:rPr>
              <a:t>Spearman ρ, Pearson r, MAE Improvement (%) (in </a:t>
            </a:r>
            <a:r>
              <a:rPr lang="en-US">
                <a:ea typeface="+mn-lt"/>
                <a:cs typeface="+mn-lt"/>
              </a:rPr>
              <a:t>comp. to Global Mean Predictor baseline)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7" name="Eingekerbter Richtungspfeil 20">
            <a:extLst>
              <a:ext uri="{FF2B5EF4-FFF2-40B4-BE49-F238E27FC236}">
                <a16:creationId xmlns:a16="http://schemas.microsoft.com/office/drawing/2014/main" id="{1F1B0DC4-37C1-B143-7034-32EABE997D28}"/>
              </a:ext>
            </a:extLst>
          </p:cNvPr>
          <p:cNvSpPr/>
          <p:nvPr/>
        </p:nvSpPr>
        <p:spPr bwMode="auto">
          <a:xfrm>
            <a:off x="2549448" y="5937602"/>
            <a:ext cx="394206" cy="619466"/>
          </a:xfrm>
          <a:prstGeom prst="chevron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lIns="381193" tIns="40299" rIns="80597" bIns="40299" rtlCol="0" anchor="ctr">
            <a:prstTxWarp prst="textNoShape">
              <a:avLst/>
            </a:prstTxWarp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06999">
              <a:defRPr/>
            </a:pPr>
            <a:endParaRPr lang="de-DE" sz="1350" kern="0">
              <a:solidFill>
                <a:srgbClr val="B10034"/>
              </a:solidFill>
              <a:latin typeface="Arial" charset="0"/>
            </a:endParaRPr>
          </a:p>
        </p:txBody>
      </p:sp>
      <p:sp>
        <p:nvSpPr>
          <p:cNvPr id="8" name="Eingekerbter Richtungspfeil 21">
            <a:extLst>
              <a:ext uri="{FF2B5EF4-FFF2-40B4-BE49-F238E27FC236}">
                <a16:creationId xmlns:a16="http://schemas.microsoft.com/office/drawing/2014/main" id="{D4728604-8BFE-9366-25F9-1F45E9E9ADD3}"/>
              </a:ext>
            </a:extLst>
          </p:cNvPr>
          <p:cNvSpPr/>
          <p:nvPr/>
        </p:nvSpPr>
        <p:spPr bwMode="auto">
          <a:xfrm>
            <a:off x="2275571" y="5937602"/>
            <a:ext cx="394206" cy="619466"/>
          </a:xfrm>
          <a:prstGeom prst="chevron">
            <a:avLst/>
          </a:prstGeom>
          <a:solidFill>
            <a:srgbClr val="D9D9D9">
              <a:lumMod val="9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lIns="381193" tIns="40299" rIns="80597" bIns="40299" rtlCol="0" anchor="ctr">
            <a:prstTxWarp prst="textNoShape">
              <a:avLst/>
            </a:prstTxWarp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06999">
              <a:defRPr/>
            </a:pPr>
            <a:endParaRPr lang="de-DE" sz="1350" kern="0">
              <a:solidFill>
                <a:srgbClr val="B10034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95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63140-BB56-4499-CBB0-D25A44B01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467ED-13F9-35D0-0375-71097C6FA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441" y="611860"/>
            <a:ext cx="6456000" cy="1248000"/>
          </a:xfrm>
        </p:spPr>
        <p:txBody>
          <a:bodyPr/>
          <a:lstStyle/>
          <a:p>
            <a:r>
              <a:rPr lang="en-US" dirty="0"/>
              <a:t>Hyperparameter Optimization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1A4514-90D5-0CDE-872A-2C8D6C633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7950" y="2557666"/>
            <a:ext cx="9429544" cy="3689146"/>
          </a:xfrm>
        </p:spPr>
        <p:txBody>
          <a:bodyPr/>
          <a:lstStyle/>
          <a:p>
            <a:r>
              <a:rPr lang="en-US" sz="2400" b="1" dirty="0" err="1"/>
              <a:t>Optuna</a:t>
            </a:r>
            <a:br>
              <a:rPr lang="en-US" sz="2400" dirty="0"/>
            </a:br>
            <a:r>
              <a:rPr lang="en-US" sz="2400" dirty="0"/>
              <a:t>Automated hyperparameter search applied to every model with tunable hyperparameters</a:t>
            </a:r>
          </a:p>
          <a:p>
            <a:r>
              <a:rPr lang="en-US" sz="2400" b="1" dirty="0"/>
              <a:t>Evaluation: 5-Fold CV</a:t>
            </a:r>
            <a:br>
              <a:rPr lang="en-US" sz="2400" dirty="0"/>
            </a:br>
            <a:r>
              <a:rPr lang="en-US" sz="2400" dirty="0"/>
              <a:t>10% validation held out within each fold for early stopping.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063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6C3A5-0E14-DB7C-A678-ADF0D2E54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44D5E-2A5D-8466-8F10-13B051B43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Model Performance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9D1881-F993-9EFC-93C4-579550AA9F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26995"/>
              </p:ext>
            </p:extLst>
          </p:nvPr>
        </p:nvGraphicFramePr>
        <p:xfrm>
          <a:off x="1022430" y="1234633"/>
          <a:ext cx="7946308" cy="4433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6577">
                  <a:extLst>
                    <a:ext uri="{9D8B030D-6E8A-4147-A177-3AD203B41FA5}">
                      <a16:colId xmlns:a16="http://schemas.microsoft.com/office/drawing/2014/main" val="1343476123"/>
                    </a:ext>
                  </a:extLst>
                </a:gridCol>
                <a:gridCol w="1986577">
                  <a:extLst>
                    <a:ext uri="{9D8B030D-6E8A-4147-A177-3AD203B41FA5}">
                      <a16:colId xmlns:a16="http://schemas.microsoft.com/office/drawing/2014/main" val="1034481552"/>
                    </a:ext>
                  </a:extLst>
                </a:gridCol>
                <a:gridCol w="1986577">
                  <a:extLst>
                    <a:ext uri="{9D8B030D-6E8A-4147-A177-3AD203B41FA5}">
                      <a16:colId xmlns:a16="http://schemas.microsoft.com/office/drawing/2014/main" val="3116076102"/>
                    </a:ext>
                  </a:extLst>
                </a:gridCol>
                <a:gridCol w="1986577">
                  <a:extLst>
                    <a:ext uri="{9D8B030D-6E8A-4147-A177-3AD203B41FA5}">
                      <a16:colId xmlns:a16="http://schemas.microsoft.com/office/drawing/2014/main" val="3572996693"/>
                    </a:ext>
                  </a:extLst>
                </a:gridCol>
              </a:tblGrid>
              <a:tr h="655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Model</a:t>
                      </a:r>
                      <a:endParaRPr lang="en-US" b="1" dirty="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Spearman </a:t>
                      </a:r>
                      <a:r>
                        <a:rPr lang="el-GR" b="1" dirty="0">
                          <a:effectLst/>
                        </a:rPr>
                        <a:t>ρ</a:t>
                      </a:r>
                      <a:endParaRPr lang="en-US" b="1" dirty="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Pearson r</a:t>
                      </a:r>
                      <a:endParaRPr lang="en-US" b="1" dirty="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MAE Improvement (%)</a:t>
                      </a:r>
                    </a:p>
                  </a:txBody>
                  <a:tcPr marL="123825" marR="123825" marT="57150" marB="5715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483689"/>
                  </a:ext>
                </a:extLst>
              </a:tr>
              <a:tr h="635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Global Mean (baseline)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effectLst/>
                        </a:rPr>
                        <a:t>—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—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—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270595911"/>
                  </a:ext>
                </a:extLst>
              </a:tr>
              <a:tr h="367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Ridge Regression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0.650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0.660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30.0%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0975049"/>
                  </a:ext>
                </a:extLst>
              </a:tr>
              <a:tr h="367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Decision Tree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0.538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0.546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22.7%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51223402"/>
                  </a:ext>
                </a:extLst>
              </a:tr>
              <a:tr h="367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Random Forest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0.648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0.657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27.8%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560670760"/>
                  </a:ext>
                </a:extLst>
              </a:tr>
              <a:tr h="367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XGBoost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0.700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0.708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35.4%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459284638"/>
                  </a:ext>
                </a:extLst>
              </a:tr>
              <a:tr h="367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LightGBM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0.697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0.705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35.2%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810031109"/>
                  </a:ext>
                </a:extLst>
              </a:tr>
              <a:tr h="367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CatBoost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0.701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0.709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35.3%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673436338"/>
                  </a:ext>
                </a:extLst>
              </a:tr>
              <a:tr h="367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Stacking Ensemble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0.702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0.710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35.4%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339697252"/>
                  </a:ext>
                </a:extLst>
              </a:tr>
              <a:tr h="367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MLP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0.706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0.714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36.6%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655551071"/>
                  </a:ext>
                </a:extLst>
              </a:tr>
            </a:tbl>
          </a:graphicData>
        </a:graphic>
      </p:graphicFrame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7C57522-C156-4761-61AC-A42AFFE8DDD7}"/>
              </a:ext>
            </a:extLst>
          </p:cNvPr>
          <p:cNvSpPr txBox="1">
            <a:spLocks/>
          </p:cNvSpPr>
          <p:nvPr/>
        </p:nvSpPr>
        <p:spPr>
          <a:xfrm>
            <a:off x="1381228" y="5712378"/>
            <a:ext cx="9429544" cy="10675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342761" indent="-342761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99" kern="1200">
                <a:solidFill>
                  <a:srgbClr val="003056"/>
                </a:solidFill>
                <a:latin typeface="+mn-lt"/>
                <a:ea typeface="+mn-ea"/>
                <a:cs typeface="+mn-cs"/>
              </a:defRPr>
            </a:lvl1pPr>
            <a:lvl2pPr marL="742650" indent="-285634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999" kern="1200">
                <a:solidFill>
                  <a:srgbClr val="003056"/>
                </a:solidFill>
                <a:latin typeface="+mn-lt"/>
                <a:ea typeface="+mn-ea"/>
                <a:cs typeface="+mn-cs"/>
              </a:defRPr>
            </a:lvl2pPr>
            <a:lvl3pPr marL="1142538" indent="-228507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799" kern="1200">
                <a:solidFill>
                  <a:srgbClr val="003056"/>
                </a:solidFill>
                <a:latin typeface="+mn-lt"/>
                <a:ea typeface="+mn-ea"/>
                <a:cs typeface="+mn-cs"/>
              </a:defRPr>
            </a:lvl3pPr>
            <a:lvl4pPr marL="1599554" indent="-228507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rgbClr val="003056"/>
                </a:solidFill>
                <a:latin typeface="+mn-lt"/>
                <a:ea typeface="+mn-ea"/>
                <a:cs typeface="+mn-cs"/>
              </a:defRPr>
            </a:lvl4pPr>
            <a:lvl5pPr marL="2056568" indent="-228507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rgbClr val="003056"/>
                </a:solidFill>
                <a:latin typeface="+mn-lt"/>
                <a:ea typeface="+mn-ea"/>
                <a:cs typeface="+mn-cs"/>
              </a:defRPr>
            </a:lvl5pPr>
            <a:lvl6pPr marL="2513584" indent="-228507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99" indent="-228507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14" indent="-228507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29" indent="-228507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 err="1"/>
              <a:t>XGBoost</a:t>
            </a:r>
            <a:r>
              <a:rPr lang="en-US" sz="2400" b="1" dirty="0"/>
              <a:t> chosen for following analyses (near-best-accuracy, interpretable via SHAP)</a:t>
            </a:r>
            <a:endParaRPr lang="en-US" sz="2400" dirty="0"/>
          </a:p>
        </p:txBody>
      </p:sp>
      <p:sp>
        <p:nvSpPr>
          <p:cNvPr id="3" name="Eingekerbter Richtungspfeil 20">
            <a:extLst>
              <a:ext uri="{FF2B5EF4-FFF2-40B4-BE49-F238E27FC236}">
                <a16:creationId xmlns:a16="http://schemas.microsoft.com/office/drawing/2014/main" id="{41170F5E-EA42-3DF6-C458-E49F5D3447A8}"/>
              </a:ext>
            </a:extLst>
          </p:cNvPr>
          <p:cNvSpPr/>
          <p:nvPr/>
        </p:nvSpPr>
        <p:spPr bwMode="auto">
          <a:xfrm>
            <a:off x="629980" y="5821855"/>
            <a:ext cx="394206" cy="619466"/>
          </a:xfrm>
          <a:prstGeom prst="chevron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lIns="381193" tIns="40299" rIns="80597" bIns="40299" rtlCol="0" anchor="ctr">
            <a:prstTxWarp prst="textNoShape">
              <a:avLst/>
            </a:prstTxWarp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06999">
              <a:defRPr/>
            </a:pPr>
            <a:endParaRPr lang="de-DE" sz="1350" kern="0">
              <a:solidFill>
                <a:srgbClr val="B10034"/>
              </a:solidFill>
              <a:latin typeface="Arial" charset="0"/>
            </a:endParaRPr>
          </a:p>
        </p:txBody>
      </p:sp>
      <p:sp>
        <p:nvSpPr>
          <p:cNvPr id="5" name="Eingekerbter Richtungspfeil 21">
            <a:extLst>
              <a:ext uri="{FF2B5EF4-FFF2-40B4-BE49-F238E27FC236}">
                <a16:creationId xmlns:a16="http://schemas.microsoft.com/office/drawing/2014/main" id="{D6008C39-4555-EF9E-C689-2309BF0B5BCC}"/>
              </a:ext>
            </a:extLst>
          </p:cNvPr>
          <p:cNvSpPr/>
          <p:nvPr/>
        </p:nvSpPr>
        <p:spPr bwMode="auto">
          <a:xfrm>
            <a:off x="356103" y="5821855"/>
            <a:ext cx="394206" cy="619466"/>
          </a:xfrm>
          <a:prstGeom prst="chevron">
            <a:avLst/>
          </a:prstGeom>
          <a:solidFill>
            <a:srgbClr val="D9D9D9">
              <a:lumMod val="9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lIns="381193" tIns="40299" rIns="80597" bIns="40299" rtlCol="0" anchor="ctr">
            <a:prstTxWarp prst="textNoShape">
              <a:avLst/>
            </a:prstTxWarp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06999">
              <a:defRPr/>
            </a:pPr>
            <a:endParaRPr lang="de-DE" sz="1350" kern="0">
              <a:solidFill>
                <a:srgbClr val="B10034"/>
              </a:solidFill>
              <a:latin typeface="Arial" charset="0"/>
            </a:endParaRPr>
          </a:p>
        </p:txBody>
      </p:sp>
      <p:sp>
        <p:nvSpPr>
          <p:cNvPr id="8" name="Parallelogramm 62">
            <a:extLst>
              <a:ext uri="{FF2B5EF4-FFF2-40B4-BE49-F238E27FC236}">
                <a16:creationId xmlns:a16="http://schemas.microsoft.com/office/drawing/2014/main" id="{F43F7D13-98E1-191F-0314-7B5A55428AC7}"/>
              </a:ext>
            </a:extLst>
          </p:cNvPr>
          <p:cNvSpPr/>
          <p:nvPr/>
        </p:nvSpPr>
        <p:spPr>
          <a:xfrm>
            <a:off x="9535564" y="2433156"/>
            <a:ext cx="2576260" cy="2023858"/>
          </a:xfrm>
          <a:prstGeom prst="parallelogram">
            <a:avLst>
              <a:gd name="adj" fmla="val 2688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9" name="Textfeld 64">
            <a:extLst>
              <a:ext uri="{FF2B5EF4-FFF2-40B4-BE49-F238E27FC236}">
                <a16:creationId xmlns:a16="http://schemas.microsoft.com/office/drawing/2014/main" id="{058B2349-55FC-42F7-7E2D-7A34A8AB42B4}"/>
              </a:ext>
            </a:extLst>
          </p:cNvPr>
          <p:cNvSpPr txBox="1"/>
          <p:nvPr/>
        </p:nvSpPr>
        <p:spPr>
          <a:xfrm>
            <a:off x="10342797" y="2661756"/>
            <a:ext cx="2061405" cy="21544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chemeClr val="accent6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All models beat</a:t>
            </a:r>
            <a:endParaRPr lang="en-US" sz="1400" b="1">
              <a:solidFill>
                <a:schemeClr val="accent6">
                  <a:lumMod val="76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feld 8">
            <a:extLst>
              <a:ext uri="{FF2B5EF4-FFF2-40B4-BE49-F238E27FC236}">
                <a16:creationId xmlns:a16="http://schemas.microsoft.com/office/drawing/2014/main" id="{3121D196-CA12-A14F-AC90-EA9214BE735D}"/>
              </a:ext>
            </a:extLst>
          </p:cNvPr>
          <p:cNvSpPr txBox="1"/>
          <p:nvPr/>
        </p:nvSpPr>
        <p:spPr>
          <a:xfrm>
            <a:off x="10183783" y="2830031"/>
            <a:ext cx="2061405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E26E31"/>
                </a:solidFill>
                <a:latin typeface="Calibri"/>
                <a:ea typeface="Calibri"/>
                <a:cs typeface="Calibri"/>
              </a:rPr>
              <a:t>baseline strongly.</a:t>
            </a:r>
          </a:p>
        </p:txBody>
      </p:sp>
      <p:sp>
        <p:nvSpPr>
          <p:cNvPr id="12" name="Textfeld 13">
            <a:extLst>
              <a:ext uri="{FF2B5EF4-FFF2-40B4-BE49-F238E27FC236}">
                <a16:creationId xmlns:a16="http://schemas.microsoft.com/office/drawing/2014/main" id="{02E76EDD-BE4D-2808-BA1A-73AA05E9B348}"/>
              </a:ext>
            </a:extLst>
          </p:cNvPr>
          <p:cNvSpPr txBox="1"/>
          <p:nvPr/>
        </p:nvSpPr>
        <p:spPr>
          <a:xfrm>
            <a:off x="10005856" y="3311043"/>
            <a:ext cx="282042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chemeClr val="accent6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Geometric landmarks</a:t>
            </a:r>
            <a:endParaRPr lang="en-US" sz="1400" b="1">
              <a:solidFill>
                <a:schemeClr val="accent6">
                  <a:lumMod val="76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3" name="Textfeld 20">
            <a:extLst>
              <a:ext uri="{FF2B5EF4-FFF2-40B4-BE49-F238E27FC236}">
                <a16:creationId xmlns:a16="http://schemas.microsoft.com/office/drawing/2014/main" id="{DBA69329-E849-BF19-321E-C4F38D163784}"/>
              </a:ext>
            </a:extLst>
          </p:cNvPr>
          <p:cNvSpPr txBox="1"/>
          <p:nvPr/>
        </p:nvSpPr>
        <p:spPr>
          <a:xfrm>
            <a:off x="9935868" y="3545993"/>
            <a:ext cx="278723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accent6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contain </a:t>
            </a:r>
            <a:r>
              <a:rPr lang="en-US" sz="1400" b="1" dirty="0" err="1">
                <a:solidFill>
                  <a:schemeClr val="accent6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real</a:t>
            </a:r>
            <a:r>
              <a:rPr lang="en-US" sz="1400" b="1" dirty="0">
                <a:solidFill>
                  <a:schemeClr val="accent6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 predictive</a:t>
            </a:r>
            <a:endParaRPr lang="en-US" sz="1400" b="1" dirty="0">
              <a:solidFill>
                <a:schemeClr val="accent6">
                  <a:lumMod val="76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4" name="Textfeld 35">
            <a:extLst>
              <a:ext uri="{FF2B5EF4-FFF2-40B4-BE49-F238E27FC236}">
                <a16:creationId xmlns:a16="http://schemas.microsoft.com/office/drawing/2014/main" id="{C4F77ADE-DD46-6206-4F26-9E6007E6C2E8}"/>
              </a:ext>
            </a:extLst>
          </p:cNvPr>
          <p:cNvSpPr txBox="1"/>
          <p:nvPr/>
        </p:nvSpPr>
        <p:spPr>
          <a:xfrm>
            <a:off x="9860900" y="3779356"/>
            <a:ext cx="2905625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chemeClr val="accent6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value</a:t>
            </a:r>
            <a:r>
              <a:rPr lang="en-US" sz="1400" b="1" dirty="0">
                <a:solidFill>
                  <a:schemeClr val="accent6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.</a:t>
            </a:r>
            <a:endParaRPr lang="en-US" sz="1400" b="1" dirty="0">
              <a:solidFill>
                <a:schemeClr val="accent6">
                  <a:lumMod val="76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1578DD55-19C5-F7F0-0AF4-865A43DFCA16}"/>
              </a:ext>
            </a:extLst>
          </p:cNvPr>
          <p:cNvSpPr>
            <a:spLocks/>
          </p:cNvSpPr>
          <p:nvPr/>
        </p:nvSpPr>
        <p:spPr bwMode="auto">
          <a:xfrm>
            <a:off x="10164241" y="2320443"/>
            <a:ext cx="1795463" cy="244475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16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Implication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27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7F5CC-9C81-3F70-E6E3-8CCD72CBD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Cross-Dataset Generalization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DB201-0B69-6E71-FB86-1F3CB56CE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442" y="1533740"/>
            <a:ext cx="5669208" cy="326120"/>
          </a:xfrm>
          <a:solidFill>
            <a:srgbClr val="E7EAEE"/>
          </a:solidFill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dirty="0"/>
              <a:t>   RQ1: Do models generalize across ethnicities?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06BB7C-149A-3BD9-0DF4-CA1E77712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954856"/>
              </p:ext>
            </p:extLst>
          </p:nvPr>
        </p:nvGraphicFramePr>
        <p:xfrm>
          <a:off x="1378441" y="1976651"/>
          <a:ext cx="997536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7680">
                  <a:extLst>
                    <a:ext uri="{9D8B030D-6E8A-4147-A177-3AD203B41FA5}">
                      <a16:colId xmlns:a16="http://schemas.microsoft.com/office/drawing/2014/main" val="1343476123"/>
                    </a:ext>
                  </a:extLst>
                </a:gridCol>
                <a:gridCol w="4987680">
                  <a:extLst>
                    <a:ext uri="{9D8B030D-6E8A-4147-A177-3AD203B41FA5}">
                      <a16:colId xmlns:a16="http://schemas.microsoft.com/office/drawing/2014/main" val="3116076102"/>
                    </a:ext>
                  </a:extLst>
                </a:gridCol>
              </a:tblGrid>
              <a:tr h="354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effectLst/>
                        </a:rPr>
                        <a:t>Experiment</a:t>
                      </a:r>
                    </a:p>
                  </a:txBody>
                  <a:tcPr marL="123825" marR="123825" marT="57150" marB="5715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effectLst/>
                        </a:rPr>
                        <a:t>Spearman </a:t>
                      </a:r>
                      <a:r>
                        <a:rPr lang="el-GR" sz="1600" b="1" dirty="0">
                          <a:effectLst/>
                        </a:rPr>
                        <a:t>ρ</a:t>
                      </a:r>
                      <a:endParaRPr lang="en-US" sz="1600" b="1" dirty="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483689"/>
                  </a:ext>
                </a:extLst>
              </a:tr>
              <a:tr h="354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SCUT → </a:t>
                      </a:r>
                      <a:r>
                        <a:rPr lang="en-US" sz="1600" dirty="0" err="1">
                          <a:effectLst/>
                        </a:rPr>
                        <a:t>MEBeauty</a:t>
                      </a:r>
                      <a:endParaRPr lang="en-US" sz="1600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effectLst/>
                        </a:rPr>
                        <a:t>0.29</a:t>
                      </a:r>
                      <a:endParaRPr lang="en-US" sz="1600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270595911"/>
                  </a:ext>
                </a:extLst>
              </a:tr>
              <a:tr h="354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SCUT → </a:t>
                      </a:r>
                      <a:r>
                        <a:rPr lang="en-US" sz="1600" dirty="0" err="1">
                          <a:effectLst/>
                        </a:rPr>
                        <a:t>LiveBeauty</a:t>
                      </a:r>
                      <a:endParaRPr lang="en-US" sz="1600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0.50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0975049"/>
                  </a:ext>
                </a:extLst>
              </a:tr>
              <a:tr h="354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MEBeauty → SCUT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0.37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459284638"/>
                  </a:ext>
                </a:extLst>
              </a:tr>
              <a:tr h="354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effectLst/>
                        </a:rPr>
                        <a:t>MEBeauty</a:t>
                      </a:r>
                      <a:r>
                        <a:rPr lang="en-US" sz="1600" dirty="0">
                          <a:effectLst/>
                        </a:rPr>
                        <a:t> → </a:t>
                      </a:r>
                      <a:r>
                        <a:rPr lang="en-US" sz="1600" dirty="0" err="1">
                          <a:effectLst/>
                        </a:rPr>
                        <a:t>LiveBeauty</a:t>
                      </a:r>
                      <a:endParaRPr lang="en-US" sz="1600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0.51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810031109"/>
                  </a:ext>
                </a:extLst>
              </a:tr>
              <a:tr h="354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LiveBeauty → MEBeauty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0.43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673436338"/>
                  </a:ext>
                </a:extLst>
              </a:tr>
              <a:tr h="354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LiveBeauty → SCUT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0.52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339697252"/>
                  </a:ext>
                </a:extLst>
              </a:tr>
              <a:tr h="354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effectLst/>
                        </a:rPr>
                        <a:t>Combined</a:t>
                      </a:r>
                      <a:endParaRPr lang="en-US" sz="1600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effectLst/>
                        </a:rPr>
                        <a:t>0.70</a:t>
                      </a:r>
                      <a:endParaRPr lang="en-US" sz="1600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655551071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AA475B-43DD-F4F8-946D-924794A82DD5}"/>
              </a:ext>
            </a:extLst>
          </p:cNvPr>
          <p:cNvCxnSpPr>
            <a:cxnSpLocks/>
          </p:cNvCxnSpPr>
          <p:nvPr/>
        </p:nvCxnSpPr>
        <p:spPr>
          <a:xfrm>
            <a:off x="1431479" y="1533740"/>
            <a:ext cx="0" cy="326119"/>
          </a:xfrm>
          <a:prstGeom prst="line">
            <a:avLst/>
          </a:prstGeom>
          <a:ln w="1016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81DAE3-93AF-67F9-408D-2BC442CA3434}"/>
              </a:ext>
            </a:extLst>
          </p:cNvPr>
          <p:cNvSpPr txBox="1">
            <a:spLocks/>
          </p:cNvSpPr>
          <p:nvPr/>
        </p:nvSpPr>
        <p:spPr>
          <a:xfrm>
            <a:off x="838200" y="5219761"/>
            <a:ext cx="10515600" cy="2381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AF4EF91-4854-7382-7CC4-2AFC499C875F}"/>
              </a:ext>
            </a:extLst>
          </p:cNvPr>
          <p:cNvSpPr txBox="1">
            <a:spLocks/>
          </p:cNvSpPr>
          <p:nvPr/>
        </p:nvSpPr>
        <p:spPr>
          <a:xfrm>
            <a:off x="1381228" y="4958562"/>
            <a:ext cx="9429544" cy="10675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342761" indent="-342761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99" kern="1200">
                <a:solidFill>
                  <a:srgbClr val="003056"/>
                </a:solidFill>
                <a:latin typeface="+mn-lt"/>
                <a:ea typeface="+mn-ea"/>
                <a:cs typeface="+mn-cs"/>
              </a:defRPr>
            </a:lvl1pPr>
            <a:lvl2pPr marL="742650" indent="-285634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999" kern="1200">
                <a:solidFill>
                  <a:srgbClr val="003056"/>
                </a:solidFill>
                <a:latin typeface="+mn-lt"/>
                <a:ea typeface="+mn-ea"/>
                <a:cs typeface="+mn-cs"/>
              </a:defRPr>
            </a:lvl2pPr>
            <a:lvl3pPr marL="1142538" indent="-228507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799" kern="1200">
                <a:solidFill>
                  <a:srgbClr val="003056"/>
                </a:solidFill>
                <a:latin typeface="+mn-lt"/>
                <a:ea typeface="+mn-ea"/>
                <a:cs typeface="+mn-cs"/>
              </a:defRPr>
            </a:lvl3pPr>
            <a:lvl4pPr marL="1599554" indent="-228507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rgbClr val="003056"/>
                </a:solidFill>
                <a:latin typeface="+mn-lt"/>
                <a:ea typeface="+mn-ea"/>
                <a:cs typeface="+mn-cs"/>
              </a:defRPr>
            </a:lvl4pPr>
            <a:lvl5pPr marL="2056568" indent="-228507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rgbClr val="003056"/>
                </a:solidFill>
                <a:latin typeface="+mn-lt"/>
                <a:ea typeface="+mn-ea"/>
                <a:cs typeface="+mn-cs"/>
              </a:defRPr>
            </a:lvl5pPr>
            <a:lvl6pPr marL="2513584" indent="-228507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99" indent="-228507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14" indent="-228507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29" indent="-228507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SCUT → </a:t>
            </a:r>
            <a:r>
              <a:rPr lang="en-US" sz="2400" b="1" dirty="0" err="1"/>
              <a:t>MEBeauty</a:t>
            </a:r>
            <a:r>
              <a:rPr lang="en-US" sz="2400" b="1" dirty="0"/>
              <a:t>: p = 0.29</a:t>
            </a:r>
          </a:p>
          <a:p>
            <a:pPr marL="0" indent="0">
              <a:buNone/>
            </a:pPr>
            <a:r>
              <a:rPr lang="en-US" sz="2400" dirty="0"/>
              <a:t>Asian/Caucasian only training fails on diverse populations.</a:t>
            </a:r>
          </a:p>
          <a:p>
            <a:pPr marL="0" indent="0">
              <a:buNone/>
            </a:pPr>
            <a:r>
              <a:rPr lang="en-US" sz="2400" b="1" dirty="0" err="1"/>
              <a:t>MEBeauty</a:t>
            </a:r>
            <a:r>
              <a:rPr lang="en-US" sz="2400" b="1" dirty="0"/>
              <a:t> → </a:t>
            </a:r>
            <a:r>
              <a:rPr lang="en-US" sz="2400" b="1" dirty="0" err="1"/>
              <a:t>LiveBeauty</a:t>
            </a:r>
            <a:r>
              <a:rPr lang="en-US" sz="2400" b="1" dirty="0"/>
              <a:t>: p = 0.51</a:t>
            </a:r>
          </a:p>
          <a:p>
            <a:pPr marL="0" indent="0">
              <a:buNone/>
            </a:pPr>
            <a:r>
              <a:rPr lang="en-US" sz="2400" dirty="0"/>
              <a:t>Diverse training generalizes; monoculture doesn't</a:t>
            </a:r>
          </a:p>
        </p:txBody>
      </p:sp>
    </p:spTree>
    <p:extLst>
      <p:ext uri="{BB962C8B-B14F-4D97-AF65-F5344CB8AC3E}">
        <p14:creationId xmlns:p14="http://schemas.microsoft.com/office/powerpoint/2010/main" val="2271483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F5168-E3C0-21FC-F3B3-0FFC074AC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8E416-EA27-68F2-2FCB-E002D841A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SHAP Feature Importance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26BF4-AC0F-75A3-0A08-B64AB7140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441" y="1596050"/>
            <a:ext cx="5580220" cy="326120"/>
          </a:xfrm>
          <a:solidFill>
            <a:srgbClr val="E7EAEE"/>
          </a:solidFill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1600"/>
              <a:t>    RQ2: Which geometric features drive predictions?</a:t>
            </a:r>
            <a:endParaRPr lang="en-US" sz="1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6DFB86-D293-2E6D-01E4-9FE1568DB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067738"/>
              </p:ext>
            </p:extLst>
          </p:nvPr>
        </p:nvGraphicFramePr>
        <p:xfrm>
          <a:off x="1353041" y="2017430"/>
          <a:ext cx="10000759" cy="29936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190">
                  <a:extLst>
                    <a:ext uri="{9D8B030D-6E8A-4147-A177-3AD203B41FA5}">
                      <a16:colId xmlns:a16="http://schemas.microsoft.com/office/drawing/2014/main" val="1343476123"/>
                    </a:ext>
                  </a:extLst>
                </a:gridCol>
                <a:gridCol w="2827484">
                  <a:extLst>
                    <a:ext uri="{9D8B030D-6E8A-4147-A177-3AD203B41FA5}">
                      <a16:colId xmlns:a16="http://schemas.microsoft.com/office/drawing/2014/main" val="1034481552"/>
                    </a:ext>
                  </a:extLst>
                </a:gridCol>
                <a:gridCol w="2172895">
                  <a:extLst>
                    <a:ext uri="{9D8B030D-6E8A-4147-A177-3AD203B41FA5}">
                      <a16:colId xmlns:a16="http://schemas.microsoft.com/office/drawing/2014/main" val="37358788"/>
                    </a:ext>
                  </a:extLst>
                </a:gridCol>
                <a:gridCol w="2500190">
                  <a:extLst>
                    <a:ext uri="{9D8B030D-6E8A-4147-A177-3AD203B41FA5}">
                      <a16:colId xmlns:a16="http://schemas.microsoft.com/office/drawing/2014/main" val="3750758672"/>
                    </a:ext>
                  </a:extLst>
                </a:gridCol>
              </a:tblGrid>
              <a:tr h="354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Ethnicity</a:t>
                      </a:r>
                    </a:p>
                  </a:txBody>
                  <a:tcPr marL="123825" marR="123825" marT="57150" marB="5715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Top-4 (Shared)</a:t>
                      </a:r>
                    </a:p>
                  </a:txBody>
                  <a:tcPr marL="123825" marR="123825" marT="57150" marB="5715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#5</a:t>
                      </a:r>
                    </a:p>
                  </a:txBody>
                  <a:tcPr marL="123825" marR="123825" marT="57150" marB="5715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Nose Width SHAP</a:t>
                      </a:r>
                    </a:p>
                  </a:txBody>
                  <a:tcPr marL="123825" marR="123825" marT="57150" marB="5715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483689"/>
                  </a:ext>
                </a:extLst>
              </a:tr>
              <a:tr h="354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Asian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nose width, eye width, mouth-chin ratio, eye area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lip fullness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0.264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270595911"/>
                  </a:ext>
                </a:extLst>
              </a:tr>
              <a:tr h="354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Black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"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lip fullness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0.677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0975049"/>
                  </a:ext>
                </a:extLst>
              </a:tr>
              <a:tr h="354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Caucasian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"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brow arch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0.263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459284638"/>
                  </a:ext>
                </a:extLst>
              </a:tr>
              <a:tr h="354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Hispanic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"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brow arch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0.319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810031109"/>
                  </a:ext>
                </a:extLst>
              </a:tr>
              <a:tr h="354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Indian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"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jaw width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0.330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673436338"/>
                  </a:ext>
                </a:extLst>
              </a:tr>
              <a:tr h="354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Mid-Eastern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"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lip fullness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0.318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172947478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2963504-6A66-0A35-EF55-44C198883DB5}"/>
              </a:ext>
            </a:extLst>
          </p:cNvPr>
          <p:cNvCxnSpPr>
            <a:cxnSpLocks/>
          </p:cNvCxnSpPr>
          <p:nvPr/>
        </p:nvCxnSpPr>
        <p:spPr>
          <a:xfrm>
            <a:off x="1431478" y="1596050"/>
            <a:ext cx="0" cy="326119"/>
          </a:xfrm>
          <a:prstGeom prst="line">
            <a:avLst/>
          </a:prstGeom>
          <a:ln w="1016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C5B64B1-C985-BF04-4C8B-83A9E0466C98}"/>
              </a:ext>
            </a:extLst>
          </p:cNvPr>
          <p:cNvSpPr txBox="1">
            <a:spLocks/>
          </p:cNvSpPr>
          <p:nvPr/>
        </p:nvSpPr>
        <p:spPr>
          <a:xfrm>
            <a:off x="838200" y="5521862"/>
            <a:ext cx="10515600" cy="7631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884DC53A-62F6-F29C-1C8A-66FE305141C9}"/>
              </a:ext>
            </a:extLst>
          </p:cNvPr>
          <p:cNvSpPr txBox="1">
            <a:spLocks/>
          </p:cNvSpPr>
          <p:nvPr/>
        </p:nvSpPr>
        <p:spPr>
          <a:xfrm>
            <a:off x="1353041" y="5187683"/>
            <a:ext cx="9429544" cy="10675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342761" indent="-342761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99" kern="1200">
                <a:solidFill>
                  <a:srgbClr val="003056"/>
                </a:solidFill>
                <a:latin typeface="+mn-lt"/>
                <a:ea typeface="+mn-ea"/>
                <a:cs typeface="+mn-cs"/>
              </a:defRPr>
            </a:lvl1pPr>
            <a:lvl2pPr marL="742650" indent="-285634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999" kern="1200">
                <a:solidFill>
                  <a:srgbClr val="003056"/>
                </a:solidFill>
                <a:latin typeface="+mn-lt"/>
                <a:ea typeface="+mn-ea"/>
                <a:cs typeface="+mn-cs"/>
              </a:defRPr>
            </a:lvl2pPr>
            <a:lvl3pPr marL="1142538" indent="-228507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799" kern="1200">
                <a:solidFill>
                  <a:srgbClr val="003056"/>
                </a:solidFill>
                <a:latin typeface="+mn-lt"/>
                <a:ea typeface="+mn-ea"/>
                <a:cs typeface="+mn-cs"/>
              </a:defRPr>
            </a:lvl3pPr>
            <a:lvl4pPr marL="1599554" indent="-228507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rgbClr val="003056"/>
                </a:solidFill>
                <a:latin typeface="+mn-lt"/>
                <a:ea typeface="+mn-ea"/>
                <a:cs typeface="+mn-cs"/>
              </a:defRPr>
            </a:lvl4pPr>
            <a:lvl5pPr marL="2056568" indent="-228507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rgbClr val="003056"/>
                </a:solidFill>
                <a:latin typeface="+mn-lt"/>
                <a:ea typeface="+mn-ea"/>
                <a:cs typeface="+mn-cs"/>
              </a:defRPr>
            </a:lvl5pPr>
            <a:lvl6pPr marL="2513584" indent="-228507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99" indent="-228507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14" indent="-228507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29" indent="-228507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Top-4 features are identical across all ethnic groups</a:t>
            </a:r>
          </a:p>
          <a:p>
            <a:r>
              <a:rPr lang="en-US" sz="2400" dirty="0"/>
              <a:t>Magnitude differs: nose width is 2.6× more important for Black faces (0.677) than Asian (0.264): Universal features, culture specific weights</a:t>
            </a:r>
          </a:p>
        </p:txBody>
      </p:sp>
    </p:spTree>
    <p:extLst>
      <p:ext uri="{BB962C8B-B14F-4D97-AF65-F5344CB8AC3E}">
        <p14:creationId xmlns:p14="http://schemas.microsoft.com/office/powerpoint/2010/main" val="2664143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24DA0-9359-80C7-7D9E-353B863B6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522CF-4882-73E7-D4EE-D5B26BFA3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Comparison to SOTA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DEFBDD-9435-1C14-4A87-E5BB99216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7950" y="1584236"/>
            <a:ext cx="9429544" cy="1067524"/>
          </a:xfrm>
        </p:spPr>
        <p:txBody>
          <a:bodyPr/>
          <a:lstStyle/>
          <a:p>
            <a:r>
              <a:rPr lang="en-US" sz="2400" dirty="0"/>
              <a:t>Academic SOTA: FPEM (Li et al., 2025, arXiv:2501.02509)</a:t>
            </a:r>
          </a:p>
          <a:p>
            <a:r>
              <a:rPr lang="en-US" sz="2400" dirty="0"/>
              <a:t>multi-modal deep model (Swin Transformer + </a:t>
            </a:r>
            <a:r>
              <a:rPr lang="en-US" sz="2400" dirty="0" err="1"/>
              <a:t>ViT</a:t>
            </a:r>
            <a:r>
              <a:rPr lang="en-US" sz="2400" dirty="0"/>
              <a:t> + </a:t>
            </a:r>
            <a:r>
              <a:rPr lang="en-US" sz="2400" dirty="0" err="1"/>
              <a:t>FaceNet</a:t>
            </a:r>
            <a:r>
              <a:rPr lang="en-US" sz="2400" dirty="0"/>
              <a:t> + CLIP)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026E0C-1435-AACC-C954-D51F22B588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062630"/>
              </p:ext>
            </p:extLst>
          </p:nvPr>
        </p:nvGraphicFramePr>
        <p:xfrm>
          <a:off x="1377950" y="2651760"/>
          <a:ext cx="9709152" cy="1554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7288">
                  <a:extLst>
                    <a:ext uri="{9D8B030D-6E8A-4147-A177-3AD203B41FA5}">
                      <a16:colId xmlns:a16="http://schemas.microsoft.com/office/drawing/2014/main" val="1343476123"/>
                    </a:ext>
                  </a:extLst>
                </a:gridCol>
                <a:gridCol w="2427288">
                  <a:extLst>
                    <a:ext uri="{9D8B030D-6E8A-4147-A177-3AD203B41FA5}">
                      <a16:colId xmlns:a16="http://schemas.microsoft.com/office/drawing/2014/main" val="1034481552"/>
                    </a:ext>
                  </a:extLst>
                </a:gridCol>
                <a:gridCol w="2427288">
                  <a:extLst>
                    <a:ext uri="{9D8B030D-6E8A-4147-A177-3AD203B41FA5}">
                      <a16:colId xmlns:a16="http://schemas.microsoft.com/office/drawing/2014/main" val="3116076102"/>
                    </a:ext>
                  </a:extLst>
                </a:gridCol>
                <a:gridCol w="2427288">
                  <a:extLst>
                    <a:ext uri="{9D8B030D-6E8A-4147-A177-3AD203B41FA5}">
                      <a16:colId xmlns:a16="http://schemas.microsoft.com/office/drawing/2014/main" val="970241714"/>
                    </a:ext>
                  </a:extLst>
                </a:gridCol>
              </a:tblGrid>
              <a:tr h="260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Dataset</a:t>
                      </a:r>
                    </a:p>
                  </a:txBody>
                  <a:tcPr marL="123825" marR="123825" marT="57150" marB="5715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FPEM (</a:t>
                      </a:r>
                      <a:r>
                        <a:rPr lang="el-GR" sz="1800" b="1" dirty="0">
                          <a:effectLst/>
                        </a:rPr>
                        <a:t>ρ</a:t>
                      </a:r>
                      <a:r>
                        <a:rPr lang="en-US" sz="1800" b="1" dirty="0">
                          <a:effectLst/>
                        </a:rPr>
                        <a:t>)</a:t>
                      </a:r>
                      <a:endParaRPr lang="en-US" b="1" dirty="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Ours (</a:t>
                      </a:r>
                      <a:r>
                        <a:rPr lang="el-GR" sz="1800" b="1" dirty="0">
                          <a:effectLst/>
                        </a:rPr>
                        <a:t>ρ</a:t>
                      </a:r>
                      <a:r>
                        <a:rPr lang="en-US" b="1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Gap (</a:t>
                      </a:r>
                      <a:r>
                        <a:rPr lang="el-GR" sz="1800" b="1" dirty="0">
                          <a:effectLst/>
                        </a:rPr>
                        <a:t>ρ</a:t>
                      </a:r>
                      <a:r>
                        <a:rPr lang="en-US" sz="1800" b="1" dirty="0">
                          <a:effectLst/>
                        </a:rPr>
                        <a:t>)</a:t>
                      </a:r>
                      <a:endParaRPr lang="en-US" b="1" dirty="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483689"/>
                  </a:ext>
                </a:extLst>
              </a:tr>
              <a:tr h="260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SCUT-FPB5500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0.931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0.700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−0.231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270595911"/>
                  </a:ext>
                </a:extLst>
              </a:tr>
              <a:tr h="260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 err="1">
                          <a:effectLst/>
                        </a:rPr>
                        <a:t>LiveBeauty</a:t>
                      </a:r>
                      <a:endParaRPr lang="en-US" b="0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0.925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0.706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−0.219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459284638"/>
                  </a:ext>
                </a:extLst>
              </a:tr>
              <a:tr h="260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effectLst/>
                        </a:rPr>
                        <a:t>MEBeauty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0.787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0.648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−0.139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810031109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D79D73F-D50C-B4A5-DC09-9CE31C189B0F}"/>
              </a:ext>
            </a:extLst>
          </p:cNvPr>
          <p:cNvSpPr txBox="1">
            <a:spLocks/>
          </p:cNvSpPr>
          <p:nvPr/>
        </p:nvSpPr>
        <p:spPr>
          <a:xfrm>
            <a:off x="838200" y="4785748"/>
            <a:ext cx="10515600" cy="7631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D0E7D473-461E-BA6F-4337-20581BDB0765}"/>
              </a:ext>
            </a:extLst>
          </p:cNvPr>
          <p:cNvSpPr txBox="1">
            <a:spLocks/>
          </p:cNvSpPr>
          <p:nvPr/>
        </p:nvSpPr>
        <p:spPr>
          <a:xfrm>
            <a:off x="1377950" y="4633549"/>
            <a:ext cx="9429544" cy="10675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342761" indent="-342761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99" kern="1200">
                <a:solidFill>
                  <a:srgbClr val="003056"/>
                </a:solidFill>
                <a:latin typeface="+mn-lt"/>
                <a:ea typeface="+mn-ea"/>
                <a:cs typeface="+mn-cs"/>
              </a:defRPr>
            </a:lvl1pPr>
            <a:lvl2pPr marL="742650" indent="-285634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999" kern="1200">
                <a:solidFill>
                  <a:srgbClr val="003056"/>
                </a:solidFill>
                <a:latin typeface="+mn-lt"/>
                <a:ea typeface="+mn-ea"/>
                <a:cs typeface="+mn-cs"/>
              </a:defRPr>
            </a:lvl2pPr>
            <a:lvl3pPr marL="1142538" indent="-228507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799" kern="1200">
                <a:solidFill>
                  <a:srgbClr val="003056"/>
                </a:solidFill>
                <a:latin typeface="+mn-lt"/>
                <a:ea typeface="+mn-ea"/>
                <a:cs typeface="+mn-cs"/>
              </a:defRPr>
            </a:lvl3pPr>
            <a:lvl4pPr marL="1599554" indent="-228507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rgbClr val="003056"/>
                </a:solidFill>
                <a:latin typeface="+mn-lt"/>
                <a:ea typeface="+mn-ea"/>
                <a:cs typeface="+mn-cs"/>
              </a:defRPr>
            </a:lvl4pPr>
            <a:lvl5pPr marL="2056568" indent="-228507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rgbClr val="003056"/>
                </a:solidFill>
                <a:latin typeface="+mn-lt"/>
                <a:ea typeface="+mn-ea"/>
                <a:cs typeface="+mn-cs"/>
              </a:defRPr>
            </a:lvl5pPr>
            <a:lvl6pPr marL="2513584" indent="-228507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99" indent="-228507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14" indent="-228507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29" indent="-228507" algn="l" defTabSz="91403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Geometry-only trails by ~0.22 </a:t>
            </a:r>
            <a:r>
              <a:rPr lang="el-GR" sz="2400" dirty="0"/>
              <a:t>ρ </a:t>
            </a:r>
            <a:r>
              <a:rPr lang="en-US" sz="2400" dirty="0"/>
              <a:t>on Asian-majority datasets (SCUT, </a:t>
            </a:r>
            <a:r>
              <a:rPr lang="en-US" sz="2400" dirty="0" err="1"/>
              <a:t>LiveBeauty</a:t>
            </a:r>
            <a:r>
              <a:rPr lang="en-US" sz="2400" dirty="0"/>
              <a:t>)</a:t>
            </a:r>
          </a:p>
          <a:p>
            <a:r>
              <a:rPr lang="en-US" sz="2400" dirty="0"/>
              <a:t>Gap shrinks to −0.14</a:t>
            </a:r>
            <a:r>
              <a:rPr lang="el-GR" sz="2400" b="1" dirty="0"/>
              <a:t>ρ</a:t>
            </a:r>
            <a:r>
              <a:rPr lang="en-US" sz="2400" dirty="0"/>
              <a:t> on </a:t>
            </a:r>
            <a:r>
              <a:rPr lang="en-US" sz="2400" dirty="0" err="1"/>
              <a:t>MEBeauty</a:t>
            </a:r>
            <a:r>
              <a:rPr lang="en-US" sz="2400" dirty="0"/>
              <a:t> (most diverse): geometry matters more where appearance varies most</a:t>
            </a:r>
          </a:p>
        </p:txBody>
      </p:sp>
    </p:spTree>
    <p:extLst>
      <p:ext uri="{BB962C8B-B14F-4D97-AF65-F5344CB8AC3E}">
        <p14:creationId xmlns:p14="http://schemas.microsoft.com/office/powerpoint/2010/main" val="330823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019FC-10A9-520D-C3BC-2D00E9CEB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9FB99-B7B9-C92E-C41A-2CB92F73D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Out of distribution Check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31E4817-6C61-2AE8-7493-D327A3D13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7950" y="1885470"/>
            <a:ext cx="2507888" cy="3689146"/>
          </a:xfrm>
        </p:spPr>
        <p:txBody>
          <a:bodyPr/>
          <a:lstStyle/>
          <a:p>
            <a:pPr marL="285750" indent="-285750"/>
            <a:r>
              <a:rPr lang="en-US" sz="2400" dirty="0" err="1"/>
              <a:t>MediaPipe</a:t>
            </a:r>
            <a:r>
              <a:rPr lang="en-US" sz="2400" dirty="0"/>
              <a:t> locks onto Gollum's features</a:t>
            </a:r>
          </a:p>
          <a:p>
            <a:pPr marL="285750" indent="-285750"/>
            <a:endParaRPr lang="en-US" sz="2400" dirty="0"/>
          </a:p>
          <a:p>
            <a:pPr marL="285750" indent="-285750"/>
            <a:r>
              <a:rPr lang="en-US" sz="2400" dirty="0" err="1"/>
              <a:t>XGBoost</a:t>
            </a:r>
            <a:r>
              <a:rPr lang="en-US" sz="2400" dirty="0"/>
              <a:t> pulls out of distribution inputs toward training-data territory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E051F2-7601-E14D-DE05-FFD8683D4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529" y="1690688"/>
            <a:ext cx="7895967" cy="407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318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ACBAE-1E6B-44FB-2C57-2C5EEB221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950">
                <a:ea typeface="Calibri"/>
                <a:cs typeface="Calibri"/>
              </a:rPr>
              <a:t>Limitations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F0E27-418E-348C-F3E8-44BDDEB6D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255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30A80-12D2-2249-C321-B6979EE37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950">
                <a:ea typeface="Calibri"/>
                <a:cs typeface="Calibri"/>
              </a:rPr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6AF31-DC76-25C0-1150-D554DDB11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063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902E9-C518-C083-97E5-E3E8DBDBC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81AC9-9DCA-3059-787B-062EAFC3F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Findings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20E8B-FB43-ECFA-1D55-E85CD1F25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704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Geometry + expressions work: 30 facial ratios + 9 expression features reach </a:t>
            </a:r>
            <a:r>
              <a:rPr lang="el-GR" sz="2400" dirty="0"/>
              <a:t>ρ=0.70 (35% </a:t>
            </a:r>
            <a:r>
              <a:rPr lang="en-US" sz="2400" dirty="0"/>
              <a:t>MAE reduction over baseline)</a:t>
            </a:r>
          </a:p>
          <a:p>
            <a:endParaRPr lang="en-US" sz="2400" dirty="0"/>
          </a:p>
          <a:p>
            <a:r>
              <a:rPr lang="en-US" sz="2400" dirty="0"/>
              <a:t>Monoculture training fails (RQ1): SCUT-only models drop to </a:t>
            </a:r>
            <a:r>
              <a:rPr lang="el-GR" sz="2400" dirty="0"/>
              <a:t>ρ=0.29 </a:t>
            </a:r>
            <a:r>
              <a:rPr lang="en-US" sz="2400" dirty="0"/>
              <a:t>on diverse populations; combining datasets recovers </a:t>
            </a:r>
            <a:r>
              <a:rPr lang="el-GR" sz="2400" dirty="0"/>
              <a:t>ρ=0.70.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Universal features but group-specific weights (RQ2): Top-4 features are identical across ethnicities but magnitudes vary up to 2.6×</a:t>
            </a:r>
          </a:p>
          <a:p>
            <a:endParaRPr lang="en-US" sz="2400" dirty="0"/>
          </a:p>
          <a:p>
            <a:r>
              <a:rPr lang="en-US" sz="2400" dirty="0"/>
              <a:t>SOTA gap still exists. Closing the gap means adding texture cues (e.g. skin, hair)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76136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7A534-2D65-B19C-0F1E-53C9948BB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pic>
        <p:nvPicPr>
          <p:cNvPr id="4" name="Picture 3" descr="Profilfoto">
            <a:extLst>
              <a:ext uri="{FF2B5EF4-FFF2-40B4-BE49-F238E27FC236}">
                <a16:creationId xmlns:a16="http://schemas.microsoft.com/office/drawing/2014/main" id="{7F8FCB92-E09E-FC20-C36C-8FB2C1F8A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790" y="2556415"/>
            <a:ext cx="2150762" cy="2150762"/>
          </a:xfrm>
          <a:prstGeom prst="rect">
            <a:avLst/>
          </a:prstGeom>
        </p:spPr>
      </p:pic>
      <p:pic>
        <p:nvPicPr>
          <p:cNvPr id="5" name="Picture 4" descr="Profilfoto">
            <a:extLst>
              <a:ext uri="{FF2B5EF4-FFF2-40B4-BE49-F238E27FC236}">
                <a16:creationId xmlns:a16="http://schemas.microsoft.com/office/drawing/2014/main" id="{EC6F928B-9B6C-21D5-F4E5-D1541E254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809" y="2556415"/>
            <a:ext cx="2150762" cy="2150762"/>
          </a:xfrm>
          <a:prstGeom prst="rect">
            <a:avLst/>
          </a:prstGeom>
        </p:spPr>
      </p:pic>
      <p:pic>
        <p:nvPicPr>
          <p:cNvPr id="6" name="Picture 5" descr="Profilfoto">
            <a:extLst>
              <a:ext uri="{FF2B5EF4-FFF2-40B4-BE49-F238E27FC236}">
                <a16:creationId xmlns:a16="http://schemas.microsoft.com/office/drawing/2014/main" id="{AB870CD2-D881-1F85-1ADD-8FBD5FECE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6828" y="2556415"/>
            <a:ext cx="2150762" cy="21507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BDFAA8-9EB8-8F99-B611-498DEEB7BD3D}"/>
              </a:ext>
            </a:extLst>
          </p:cNvPr>
          <p:cNvSpPr txBox="1"/>
          <p:nvPr/>
        </p:nvSpPr>
        <p:spPr>
          <a:xfrm>
            <a:off x="4628790" y="4905633"/>
            <a:ext cx="2150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David Siregar</a:t>
            </a:r>
          </a:p>
          <a:p>
            <a:r>
              <a:rPr lang="en-US" dirty="0"/>
              <a:t>-Implementation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56D4DD-DD9E-688B-9FB3-BEA1E9C426F2}"/>
              </a:ext>
            </a:extLst>
          </p:cNvPr>
          <p:cNvSpPr txBox="1"/>
          <p:nvPr/>
        </p:nvSpPr>
        <p:spPr>
          <a:xfrm>
            <a:off x="7242809" y="4905633"/>
            <a:ext cx="21507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Timon Kuhl</a:t>
            </a:r>
          </a:p>
          <a:p>
            <a:r>
              <a:rPr lang="en-US" dirty="0"/>
              <a:t>-Report Creation</a:t>
            </a:r>
          </a:p>
          <a:p>
            <a:r>
              <a:rPr lang="en-US" dirty="0"/>
              <a:t>-Testing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51032C-CF47-55B5-DF83-05D48A4E0A87}"/>
              </a:ext>
            </a:extLst>
          </p:cNvPr>
          <p:cNvSpPr txBox="1"/>
          <p:nvPr/>
        </p:nvSpPr>
        <p:spPr>
          <a:xfrm>
            <a:off x="9856828" y="4905633"/>
            <a:ext cx="2150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Maxim Froehlich</a:t>
            </a:r>
          </a:p>
          <a:p>
            <a:r>
              <a:rPr lang="en-US" dirty="0"/>
              <a:t>-Implementation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A1FC69-5750-4B9A-DA8A-B2F76DAD174C}"/>
              </a:ext>
            </a:extLst>
          </p:cNvPr>
          <p:cNvSpPr txBox="1"/>
          <p:nvPr/>
        </p:nvSpPr>
        <p:spPr>
          <a:xfrm>
            <a:off x="2478028" y="4905633"/>
            <a:ext cx="21507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Simon Heinz</a:t>
            </a:r>
          </a:p>
          <a:p>
            <a:r>
              <a:rPr lang="en-US" dirty="0"/>
              <a:t>-Outline Creation</a:t>
            </a:r>
          </a:p>
          <a:p>
            <a:r>
              <a:rPr lang="en-US" dirty="0"/>
              <a:t>-Testing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325BBE-AB51-638E-25FB-9C2B586C3952}"/>
              </a:ext>
            </a:extLst>
          </p:cNvPr>
          <p:cNvSpPr txBox="1"/>
          <p:nvPr/>
        </p:nvSpPr>
        <p:spPr>
          <a:xfrm>
            <a:off x="327266" y="4905632"/>
            <a:ext cx="21507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Lars </a:t>
            </a:r>
            <a:r>
              <a:rPr lang="en-US" dirty="0" err="1"/>
              <a:t>Bullmahn</a:t>
            </a:r>
            <a:endParaRPr lang="en-US" dirty="0"/>
          </a:p>
          <a:p>
            <a:r>
              <a:rPr lang="en-US" dirty="0"/>
              <a:t>-Report Creation</a:t>
            </a:r>
          </a:p>
          <a:p>
            <a:r>
              <a:rPr lang="en-US" dirty="0"/>
              <a:t>-Testing</a:t>
            </a:r>
          </a:p>
        </p:txBody>
      </p:sp>
      <p:pic>
        <p:nvPicPr>
          <p:cNvPr id="3" name="Picture 2" descr="A person wearing glasses and a blue shirt&#10;&#10;AI-generated content may be incorrect.">
            <a:extLst>
              <a:ext uri="{FF2B5EF4-FFF2-40B4-BE49-F238E27FC236}">
                <a16:creationId xmlns:a16="http://schemas.microsoft.com/office/drawing/2014/main" id="{ACFE041B-6C77-2C57-96EB-7EDE1D0594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207" y="2556075"/>
            <a:ext cx="1625913" cy="215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644272"/>
      </p:ext>
    </p:extLst>
  </p:cSld>
  <p:clrMapOvr>
    <a:masterClrMapping/>
  </p:clrMapOvr>
</p:sld>
</file>

<file path=ppt/theme/theme1.xml><?xml version="1.0" encoding="utf-8"?>
<a:theme xmlns:a="http://schemas.openxmlformats.org/drawingml/2006/main" name="Präsentationsvorlage Uni MA final gesendet-neu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Ñsentationsvorlage (16_9) Uni MA EN" id="{200DEE4C-3CC2-864A-A064-D508F14B7BE3}" vid="{F27FFA8D-ECE6-3E41-8DA1-6C3BBBE250C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Privilege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Präsentationsvorlage-Uni-MA-16x9-EN</Template>
  <TotalTime>2926</TotalTime>
  <Words>752</Words>
  <Application>Microsoft Office PowerPoint</Application>
  <PresentationFormat>Widescreen</PresentationFormat>
  <Paragraphs>241</Paragraphs>
  <Slides>18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Präsentationsvorlage Uni MA final gesendet-neu</vt:lpstr>
      <vt:lpstr>Project Presentation: IE500 Data Mining </vt:lpstr>
      <vt:lpstr>Problem Statement</vt:lpstr>
      <vt:lpstr>Dataset Overview</vt:lpstr>
      <vt:lpstr>Ethnic Distribution</vt:lpstr>
      <vt:lpstr>Research Questions</vt:lpstr>
      <vt:lpstr>Method overview</vt:lpstr>
      <vt:lpstr>Feature Extraction</vt:lpstr>
      <vt:lpstr>Model Overview</vt:lpstr>
      <vt:lpstr>Hyperparameter Optimization</vt:lpstr>
      <vt:lpstr>Overall Model Performance</vt:lpstr>
      <vt:lpstr>Cross-Dataset Generalization</vt:lpstr>
      <vt:lpstr>SHAP Feature Importance</vt:lpstr>
      <vt:lpstr>Comparison to SOTA </vt:lpstr>
      <vt:lpstr>Out of distribution Check</vt:lpstr>
      <vt:lpstr>Limitations</vt:lpstr>
      <vt:lpstr>Conclusion</vt:lpstr>
      <vt:lpstr>Summary of Findings 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Kuhl, Timon</dc:creator>
  <cp:lastModifiedBy>Lars Bullmahn</cp:lastModifiedBy>
  <cp:revision>447</cp:revision>
  <dcterms:created xsi:type="dcterms:W3CDTF">2026-05-12T11:25:55Z</dcterms:created>
  <dcterms:modified xsi:type="dcterms:W3CDTF">2026-05-16T21:33:11Z</dcterms:modified>
</cp:coreProperties>
</file>